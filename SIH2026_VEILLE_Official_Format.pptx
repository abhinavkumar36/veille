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7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4470"/>
    <a:srgbClr val="010000"/>
    <a:srgbClr val="9BBB59"/>
    <a:srgbClr val="39B0D4"/>
    <a:srgbClr val="727272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224" y="259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1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2.png"/><Relationship Id="rId6" Type="http://schemas.openxmlformats.org/officeDocument/2006/relationships/image" Target="../media/image3.jpe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hyperlink" Target="https://digitalpolice.gov.in/DigitalPolice/AboutUs" TargetMode="External"/><Relationship Id="rId6" Type="http://schemas.openxmlformats.org/officeDocument/2006/relationships/hyperlink" Target="https://www.drishtiias.com/daily-updates/daily-news-analysis/crime-in-india-2023-report" TargetMode="External"/><Relationship Id="rId7" Type="http://schemas.openxmlformats.org/officeDocument/2006/relationships/hyperlink" Target="https://i2group.com/articles/what-is-link-analysis-and-link-visualiza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78EC-DCC1-35F7-0E15-35C50F3DA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AC1D619D-9256-9932-B4CA-21D8D9BD82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D4C17A75-598C-D726-0F6F-E9496E0363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AAA55B-1A45-B767-CE07-C8BCB52F7CB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E8C54EC9-E5A0-1AA0-3755-6022E570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160139-18EA-39F0-3CF5-039058E074C0}"/>
              </a:ext>
            </a:extLst>
          </p:cNvPr>
          <p:cNvSpPr txBox="1"/>
          <p:nvPr/>
        </p:nvSpPr>
        <p:spPr>
          <a:xfrm>
            <a:off x="500922" y="532668"/>
            <a:ext cx="11190154" cy="5271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endParaRPr lang="en-US" sz="2800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SIH26189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AI-Powered Criminal Network Analysis System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Software: Blockchain &amp; Cybersecurity (Ministry of Home Affairs)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– Team Void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42A9E1-25B7-0C5E-EDC6-C172296DC4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67ED1D4-F4FF-B691-75FF-6D655D7E62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60CDA98-8397-E0C4-A798-692D21F89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BDA527-0D75-C7D4-D827-6C0338DF0C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1</a:t>
            </a:fld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8643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VEILLE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2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3198694-84EC-3B6E-14FE-A06E02669F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48CFA24-88CD-3C30-3D7D-6AA3E854E8A0}"/>
              </a:ext>
            </a:extLst>
          </p:cNvPr>
          <p:cNvSpPr txBox="1"/>
          <p:nvPr/>
        </p:nvSpPr>
        <p:spPr>
          <a:xfrm>
            <a:off x="3820160" y="1036388"/>
            <a:ext cx="414528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300" b="1" i="1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(Multisource Intelligence Fusion for Criminal Networks)</a:t>
            </a:r>
            <a:endParaRPr lang="en-US" sz="1300" b="1" dirty="0"/>
          </a:p>
        </p:txBody>
      </p:sp>
      <p:sp>
        <p:nvSpPr>
          <p:cNvPr id="40" name="Shape 19">
            <a:extLst>
              <a:ext uri="{FF2B5EF4-FFF2-40B4-BE49-F238E27FC236}">
                <a16:creationId xmlns:a16="http://schemas.microsoft.com/office/drawing/2014/main" id="{45343271-1D88-D7E8-7C04-F20BE15AFDE0}"/>
              </a:ext>
            </a:extLst>
          </p:cNvPr>
          <p:cNvSpPr/>
          <p:nvPr/>
        </p:nvSpPr>
        <p:spPr>
          <a:xfrm>
            <a:off x="329773" y="4658360"/>
            <a:ext cx="6522720" cy="29260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/>
        </p:spPr>
        <p:txBody>
          <a:bodyPr/>
          <a:p/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8C4EBC8B-0E2E-C5E6-3842-86B89004398E}"/>
              </a:ext>
            </a:extLst>
          </p:cNvPr>
          <p:cNvSpPr/>
          <p:nvPr/>
        </p:nvSpPr>
        <p:spPr>
          <a:xfrm>
            <a:off x="466933" y="465836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UVP (UNIQUE VALUE PROPOSITION)</a:t>
            </a:r>
            <a:endParaRPr lang="en-US" sz="1200" dirty="0"/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F772F5CD-126C-63DD-3510-AF7E150E2AF1}"/>
              </a:ext>
            </a:extLst>
          </p:cNvPr>
          <p:cNvSpPr/>
          <p:nvPr/>
        </p:nvSpPr>
        <p:spPr>
          <a:xfrm>
            <a:off x="329773" y="5024120"/>
            <a:ext cx="6522720" cy="1371600"/>
          </a:xfrm>
          <a:prstGeom prst="roundRect">
            <a:avLst>
              <a:gd name="adj" fmla="val 3333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CF6D9190-737B-318D-96ED-0969859D96D3}"/>
              </a:ext>
            </a:extLst>
          </p:cNvPr>
          <p:cNvSpPr/>
          <p:nvPr/>
        </p:nvSpPr>
        <p:spPr>
          <a:xfrm>
            <a:off x="466933" y="509727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Guilt/Risk Scores: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Replaces subjective “risk scores” with an ethically-bounded investigation_priority metric.</a:t>
            </a:r>
            <a:endParaRPr lang="en-US" sz="1050" dirty="0"/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127B46D4-6D44-88D2-EE92-55FD65EDE1A1}"/>
              </a:ext>
            </a:extLst>
          </p:cNvPr>
          <p:cNvSpPr/>
          <p:nvPr/>
        </p:nvSpPr>
        <p:spPr>
          <a:xfrm>
            <a:off x="466933" y="541731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Evidence Provenance: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graph edge traces back to a hash-verified source document.</a:t>
            </a:r>
            <a:endParaRPr lang="en-US" sz="105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81633F34-5145-B831-7378-A3E750CE6090}"/>
              </a:ext>
            </a:extLst>
          </p:cNvPr>
          <p:cNvSpPr/>
          <p:nvPr/>
        </p:nvSpPr>
        <p:spPr>
          <a:xfrm>
            <a:off x="466933" y="5737352"/>
            <a:ext cx="622397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Case-Isolated by Design: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RBAC + case_id scoping means Case A data can never leak into Case B.</a:t>
            </a:r>
            <a:endParaRPr lang="en-US" sz="1050" dirty="0"/>
          </a:p>
        </p:txBody>
      </p:sp>
      <p:sp>
        <p:nvSpPr>
          <p:cNvPr id="52" name="Text 5">
            <a:extLst>
              <a:ext uri="{FF2B5EF4-FFF2-40B4-BE49-F238E27FC236}">
                <a16:creationId xmlns:a16="http://schemas.microsoft.com/office/drawing/2014/main" id="{53492BD2-91FB-CA37-5CA0-97CA9D821A93}"/>
              </a:ext>
            </a:extLst>
          </p:cNvPr>
          <p:cNvSpPr/>
          <p:nvPr/>
        </p:nvSpPr>
        <p:spPr>
          <a:xfrm>
            <a:off x="10479613" y="944923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Innovation</a:t>
            </a:r>
            <a:endParaRPr lang="en-US" sz="1200" dirty="0"/>
          </a:p>
        </p:txBody>
      </p:sp>
      <p:sp>
        <p:nvSpPr>
          <p:cNvPr id="27" name="Shape 6">
            <a:extLst>
              <a:ext uri="{FF2B5EF4-FFF2-40B4-BE49-F238E27FC236}">
                <a16:creationId xmlns:a16="http://schemas.microsoft.com/office/drawing/2014/main" id="{9DCA9F77-CA28-D168-907A-4DF38F4BC875}"/>
              </a:ext>
            </a:extLst>
          </p:cNvPr>
          <p:cNvSpPr/>
          <p:nvPr/>
        </p:nvSpPr>
        <p:spPr>
          <a:xfrm>
            <a:off x="329773" y="1778550"/>
            <a:ext cx="3003750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p/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FF1F9A80-AABB-293C-EB01-4DC471C4F06D}"/>
              </a:ext>
            </a:extLst>
          </p:cNvPr>
          <p:cNvSpPr/>
          <p:nvPr/>
        </p:nvSpPr>
        <p:spPr>
          <a:xfrm>
            <a:off x="466933" y="1801410"/>
            <a:ext cx="622397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EXISTING</a:t>
            </a:r>
            <a:endParaRPr lang="en-US" sz="1200" dirty="0"/>
          </a:p>
        </p:txBody>
      </p:sp>
      <p:sp>
        <p:nvSpPr>
          <p:cNvPr id="31" name="Shape 8">
            <a:extLst>
              <a:ext uri="{FF2B5EF4-FFF2-40B4-BE49-F238E27FC236}">
                <a16:creationId xmlns:a16="http://schemas.microsoft.com/office/drawing/2014/main" id="{611C4A00-D6BE-34F3-BA44-15DEBF7DE449}"/>
              </a:ext>
            </a:extLst>
          </p:cNvPr>
          <p:cNvSpPr/>
          <p:nvPr/>
        </p:nvSpPr>
        <p:spPr>
          <a:xfrm>
            <a:off x="329773" y="2167170"/>
            <a:ext cx="3023027" cy="1930400"/>
          </a:xfrm>
          <a:prstGeom prst="roundRect">
            <a:avLst>
              <a:gd name="adj" fmla="val 4762"/>
            </a:avLst>
          </a:prstGeom>
          <a:solidFill>
            <a:srgbClr val="F7F8FC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BA257A3-38AA-3306-1DEE-974C575680D4}"/>
              </a:ext>
            </a:extLst>
          </p:cNvPr>
          <p:cNvSpPr/>
          <p:nvPr/>
        </p:nvSpPr>
        <p:spPr>
          <a:xfrm>
            <a:off x="466933" y="2240322"/>
            <a:ext cx="2885867" cy="4348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Fragmentation: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FIRs, CDRs, financial records &amp; surveillance reports sit in incompatible, disconnected silos.</a:t>
            </a:r>
            <a:endParaRPr lang="en-US" sz="1050" dirty="0"/>
          </a:p>
        </p:txBody>
      </p:sp>
      <p:sp>
        <p:nvSpPr>
          <p:cNvPr id="35" name="Text 10">
            <a:extLst>
              <a:ext uri="{FF2B5EF4-FFF2-40B4-BE49-F238E27FC236}">
                <a16:creationId xmlns:a16="http://schemas.microsoft.com/office/drawing/2014/main" id="{7019C94D-D32B-CCA5-1F5B-60D06221F3CB}"/>
              </a:ext>
            </a:extLst>
          </p:cNvPr>
          <p:cNvSpPr/>
          <p:nvPr/>
        </p:nvSpPr>
        <p:spPr>
          <a:xfrm>
            <a:off x="466933" y="2830618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Correlation: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Investigators hand-draw link charts, missing connections buried across sources.</a:t>
            </a:r>
            <a:endParaRPr lang="en-US" sz="1050" dirty="0"/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3DAC143-CB74-A3FA-19E1-F9D7CECF11F3}"/>
              </a:ext>
            </a:extLst>
          </p:cNvPr>
          <p:cNvSpPr/>
          <p:nvPr/>
        </p:nvSpPr>
        <p:spPr>
          <a:xfrm>
            <a:off x="466933" y="3532674"/>
            <a:ext cx="2885867" cy="473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 Trust: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“Graph-DB + LLM” tools give no confidence scoring, provenance, or auditability.</a:t>
            </a:r>
            <a:endParaRPr lang="en-US" sz="1050" dirty="0"/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22F25E95-DC0B-9B5C-42DC-E1921160533D}"/>
              </a:ext>
            </a:extLst>
          </p:cNvPr>
          <p:cNvSpPr/>
          <p:nvPr/>
        </p:nvSpPr>
        <p:spPr>
          <a:xfrm>
            <a:off x="3352800" y="1778550"/>
            <a:ext cx="3601761" cy="338328"/>
          </a:xfrm>
          <a:prstGeom prst="roundRect">
            <a:avLst>
              <a:gd name="adj" fmla="val 18750"/>
            </a:avLst>
          </a:prstGeom>
          <a:solidFill>
            <a:srgbClr val="3A4470"/>
          </a:solidFill>
          <a:ln>
            <a:solidFill>
              <a:srgbClr val="3A4470"/>
            </a:solidFill>
          </a:ln>
        </p:spPr>
        <p:txBody>
          <a:bodyPr/>
          <a:lstStyle/>
          <a:p>
            <a:endParaRPr lang="en-IN" dirty="0"/>
          </a:p>
        </p:txBody>
      </p:sp>
      <p:sp>
        <p:nvSpPr>
          <p:cNvPr id="41" name="Text 13">
            <a:extLst>
              <a:ext uri="{FF2B5EF4-FFF2-40B4-BE49-F238E27FC236}">
                <a16:creationId xmlns:a16="http://schemas.microsoft.com/office/drawing/2014/main" id="{B7EB400C-9565-118E-826B-759F94BC7AFB}"/>
              </a:ext>
            </a:extLst>
          </p:cNvPr>
          <p:cNvSpPr/>
          <p:nvPr/>
        </p:nvSpPr>
        <p:spPr>
          <a:xfrm>
            <a:off x="3489960" y="1799124"/>
            <a:ext cx="3182372" cy="3063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200" dirty="0"/>
          </a:p>
        </p:txBody>
      </p:sp>
      <p:sp>
        <p:nvSpPr>
          <p:cNvPr id="43" name="Shape 14">
            <a:extLst>
              <a:ext uri="{FF2B5EF4-FFF2-40B4-BE49-F238E27FC236}">
                <a16:creationId xmlns:a16="http://schemas.microsoft.com/office/drawing/2014/main" id="{6681DF78-8360-0BF3-7E59-F6A509618206}"/>
              </a:ext>
            </a:extLst>
          </p:cNvPr>
          <p:cNvSpPr/>
          <p:nvPr/>
        </p:nvSpPr>
        <p:spPr>
          <a:xfrm>
            <a:off x="3352800" y="2170218"/>
            <a:ext cx="3601761" cy="1927352"/>
          </a:xfrm>
          <a:prstGeom prst="roundRect">
            <a:avLst>
              <a:gd name="adj" fmla="val 3333"/>
            </a:avLst>
          </a:prstGeom>
          <a:solidFill>
            <a:srgbClr val="EAF7F5"/>
          </a:solidFill>
          <a:ln w="12700">
            <a:solidFill>
              <a:srgbClr val="3A4470"/>
            </a:solidFill>
            <a:prstDash val="solid"/>
          </a:ln>
        </p:spPr>
        <p:txBody>
          <a:bodyPr/>
          <a:p/>
        </p:txBody>
      </p:sp>
      <p:sp>
        <p:nvSpPr>
          <p:cNvPr id="45" name="Text 15">
            <a:extLst>
              <a:ext uri="{FF2B5EF4-FFF2-40B4-BE49-F238E27FC236}">
                <a16:creationId xmlns:a16="http://schemas.microsoft.com/office/drawing/2014/main" id="{7120ACB9-7309-B5F0-14E7-9926E4E8494C}"/>
              </a:ext>
            </a:extLst>
          </p:cNvPr>
          <p:cNvSpPr/>
          <p:nvPr/>
        </p:nvSpPr>
        <p:spPr>
          <a:xfrm>
            <a:off x="3333522" y="2213398"/>
            <a:ext cx="372618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Multisource Fusion Engine: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NLP extraction + entity resolution across FIRs, CDRs, financial &amp; surveillance data.</a:t>
            </a:r>
            <a:endParaRPr lang="en-US" sz="1050" dirty="0"/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2AEC1C01-FF7D-105D-37A0-2B3656C122CE}"/>
              </a:ext>
            </a:extLst>
          </p:cNvPr>
          <p:cNvSpPr/>
          <p:nvPr/>
        </p:nvSpPr>
        <p:spPr>
          <a:xfrm>
            <a:off x="3352800" y="2799630"/>
            <a:ext cx="3535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Model: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entity/edge scored L1-L5, ending in an auditable investigation_priority.</a:t>
            </a:r>
            <a:endParaRPr lang="en-US" sz="1050" dirty="0"/>
          </a:p>
        </p:txBody>
      </p:sp>
      <p:sp>
        <p:nvSpPr>
          <p:cNvPr id="49" name="Text 17">
            <a:extLst>
              <a:ext uri="{FF2B5EF4-FFF2-40B4-BE49-F238E27FC236}">
                <a16:creationId xmlns:a16="http://schemas.microsoft.com/office/drawing/2014/main" id="{F9A3E496-BF7E-2B27-7B8A-C28212239659}"/>
              </a:ext>
            </a:extLst>
          </p:cNvPr>
          <p:cNvSpPr/>
          <p:nvPr/>
        </p:nvSpPr>
        <p:spPr>
          <a:xfrm>
            <a:off x="3333522" y="3389926"/>
            <a:ext cx="355495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RAG: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cites its exact source evidence — never a black box.</a:t>
            </a:r>
            <a:endParaRPr lang="en-US" sz="1050" dirty="0"/>
          </a:p>
        </p:txBody>
      </p:sp>
      <p:sp>
        <p:nvSpPr>
          <p:cNvPr id="51" name="Text 18">
            <a:extLst>
              <a:ext uri="{FF2B5EF4-FFF2-40B4-BE49-F238E27FC236}">
                <a16:creationId xmlns:a16="http://schemas.microsoft.com/office/drawing/2014/main" id="{6631221E-4902-0E82-22FB-1644D7CC1BF4}"/>
              </a:ext>
            </a:extLst>
          </p:cNvPr>
          <p:cNvSpPr/>
          <p:nvPr/>
        </p:nvSpPr>
        <p:spPr>
          <a:xfrm>
            <a:off x="3333522" y="3709458"/>
            <a:ext cx="3601761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Queue: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AI-suggested merges &amp; links stay “candidate” until an investigator confirms.</a:t>
            </a:r>
            <a:endParaRPr lang="en-US" sz="1050" dirty="0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F23A052-EE04-474A-2F72-0F2E09A49F2A}"/>
              </a:ext>
            </a:extLst>
          </p:cNvPr>
          <p:cNvCxnSpPr/>
          <p:nvPr/>
        </p:nvCxnSpPr>
        <p:spPr>
          <a:xfrm>
            <a:off x="329772" y="2750354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4353FC60-FED2-F456-BE54-0080725AA108}"/>
              </a:ext>
            </a:extLst>
          </p:cNvPr>
          <p:cNvCxnSpPr/>
          <p:nvPr/>
        </p:nvCxnSpPr>
        <p:spPr>
          <a:xfrm>
            <a:off x="329773" y="3355382"/>
            <a:ext cx="6624789" cy="0"/>
          </a:xfrm>
          <a:prstGeom prst="line">
            <a:avLst/>
          </a:prstGeom>
          <a:ln w="12700">
            <a:solidFill>
              <a:srgbClr val="3A44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>
            <a:extLst>
              <a:ext uri="{FF2B5EF4-FFF2-40B4-BE49-F238E27FC236}">
                <a16:creationId xmlns:a16="http://schemas.microsoft.com/office/drawing/2014/main" id="{1E2B5B98-A6C6-BF03-D3C6-2F4B71A113A4}"/>
              </a:ext>
            </a:extLst>
          </p:cNvPr>
          <p:cNvSpPr txBox="1"/>
          <p:nvPr/>
        </p:nvSpPr>
        <p:spPr>
          <a:xfrm>
            <a:off x="9275653" y="5738251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Workflow</a:t>
            </a:r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BA33E0AD-840E-0ADF-497C-05CAEFCD117B}"/>
              </a:ext>
            </a:extLst>
          </p:cNvPr>
          <p:cNvSpPr/>
          <p:nvPr/>
        </p:nvSpPr>
        <p:spPr>
          <a:xfrm>
            <a:off x="7112971" y="1764150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1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5362" name="Picture 15361" descr="slide2_workflo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74561" y="1904092"/>
            <a:ext cx="5988336" cy="36911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71812999-1CB9-A830-D652-6DA9C7E7EC3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17" t="12059" r="19017"/>
          <a:stretch>
            <a:fillRect/>
          </a:stretch>
        </p:blipFill>
        <p:spPr>
          <a:xfrm>
            <a:off x="10764932" y="4141917"/>
            <a:ext cx="1381101" cy="1300226"/>
          </a:xfrm>
          <a:prstGeom prst="rect">
            <a:avLst/>
          </a:prstGeom>
        </p:spPr>
      </p:pic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63A85-95EB-90FC-A683-AEEE513FAA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30A423F-F53F-5184-18BA-E9D23511D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80B9CB-CA6E-F491-8DBA-0DB666E07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3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2EAB7D-E637-84AF-894F-452FD137452E}"/>
              </a:ext>
            </a:extLst>
          </p:cNvPr>
          <p:cNvSpPr txBox="1"/>
          <p:nvPr/>
        </p:nvSpPr>
        <p:spPr>
          <a:xfrm>
            <a:off x="1137493" y="6213983"/>
            <a:ext cx="173225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200" b="1" dirty="0"/>
              <a:t>System Architecture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0C0A0F9-4A72-0783-0043-7ACB31BF9A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" r="54328"/>
          <a:stretch>
            <a:fillRect/>
          </a:stretch>
        </p:blipFill>
        <p:spPr>
          <a:xfrm>
            <a:off x="9601766" y="4079686"/>
            <a:ext cx="1381030" cy="130022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5A2E161-8057-79CE-AB46-922376AD77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27614" r="2935" b="40790"/>
          <a:stretch>
            <a:fillRect/>
          </a:stretch>
        </p:blipFill>
        <p:spPr>
          <a:xfrm>
            <a:off x="10076174" y="5379913"/>
            <a:ext cx="783235" cy="581467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D3F7D88-C081-4341-B64C-107FE2153CA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8764" t="59794" r="2935" b="8656"/>
          <a:stretch>
            <a:fillRect/>
          </a:stretch>
        </p:blipFill>
        <p:spPr>
          <a:xfrm>
            <a:off x="10859409" y="5380758"/>
            <a:ext cx="783235" cy="58062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9227F28-FAA8-97E5-8E98-68836126C5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26" r="46982" b="95263"/>
          <a:stretch>
            <a:fillRect/>
          </a:stretch>
        </p:blipFill>
        <p:spPr>
          <a:xfrm>
            <a:off x="5982338" y="6148805"/>
            <a:ext cx="1997632" cy="26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91CF198-8025-6847-CBE6-C92BE588FBB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0" y="1606096"/>
            <a:ext cx="3886135" cy="4670659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DF894F2B-F9D6-53CE-12E7-78813AE0B3BE}"/>
              </a:ext>
            </a:extLst>
          </p:cNvPr>
          <p:cNvSpPr/>
          <p:nvPr/>
        </p:nvSpPr>
        <p:spPr>
          <a:xfrm>
            <a:off x="3496635" y="999936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3</a:t>
            </a:r>
            <a:endParaRPr lang="en-IN" sz="1600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08D836E-92AF-8E3E-AE33-0CF6DBA3F502}"/>
              </a:ext>
            </a:extLst>
          </p:cNvPr>
          <p:cNvSpPr/>
          <p:nvPr/>
        </p:nvSpPr>
        <p:spPr>
          <a:xfrm>
            <a:off x="268814" y="1683355"/>
            <a:ext cx="161590" cy="161590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>
                <a:solidFill>
                  <a:schemeClr val="tx1"/>
                </a:solidFill>
              </a:rPr>
              <a:t>2</a:t>
            </a:r>
            <a:endParaRPr lang="en-IN" sz="1600" dirty="0">
              <a:solidFill>
                <a:schemeClr val="tx1"/>
              </a:solidFill>
            </a:endParaRPr>
          </a:p>
        </p:txBody>
      </p:sp>
      <p:pic>
        <p:nvPicPr>
          <p:cNvPr id="17410" name="Picture 17409" descr="slide3_swim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6026" y="1022862"/>
            <a:ext cx="8539815" cy="537327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595611B-7217-F34F-C54B-9BB2F8CF5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460B795-60D2-1C02-5A2B-BF9DDAA4D5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D1614329-A2D4-9C0F-6301-521A7C569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4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56" name="Shape 3">
            <a:extLst>
              <a:ext uri="{FF2B5EF4-FFF2-40B4-BE49-F238E27FC236}">
                <a16:creationId xmlns:a16="http://schemas.microsoft.com/office/drawing/2014/main" id="{D2B79CF2-4F1C-126A-B046-FDF329F64ECB}"/>
              </a:ext>
            </a:extLst>
          </p:cNvPr>
          <p:cNvSpPr/>
          <p:nvPr/>
        </p:nvSpPr>
        <p:spPr>
          <a:xfrm>
            <a:off x="254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EAF7F5"/>
          </a:solidFill>
          <a:ln w="15875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58" name="Text 4">
            <a:extLst>
              <a:ext uri="{FF2B5EF4-FFF2-40B4-BE49-F238E27FC236}">
                <a16:creationId xmlns:a16="http://schemas.microsoft.com/office/drawing/2014/main" id="{EC80CFDD-C0B6-7415-ED13-49E0B322E99C}"/>
              </a:ext>
            </a:extLst>
          </p:cNvPr>
          <p:cNvSpPr/>
          <p:nvPr/>
        </p:nvSpPr>
        <p:spPr>
          <a:xfrm>
            <a:off x="436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FEASIBILITY</a:t>
            </a:r>
            <a:endParaRPr lang="en-US" sz="1400" dirty="0"/>
          </a:p>
        </p:txBody>
      </p:sp>
      <p:sp>
        <p:nvSpPr>
          <p:cNvPr id="60" name="Text 5">
            <a:extLst>
              <a:ext uri="{FF2B5EF4-FFF2-40B4-BE49-F238E27FC236}">
                <a16:creationId xmlns:a16="http://schemas.microsoft.com/office/drawing/2014/main" id="{D372634C-8283-4EB5-5433-2376D9567D0C}"/>
              </a:ext>
            </a:extLst>
          </p:cNvPr>
          <p:cNvSpPr/>
          <p:nvPr/>
        </p:nvSpPr>
        <p:spPr>
          <a:xfrm>
            <a:off x="436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Modular, proven stack — FastAPI, React, Neo4j, Celery; hybrid AI limits reliance on any single fragile component.</a:t>
            </a:r>
            <a:endParaRPr lang="en-US" sz="1000" dirty="0"/>
          </a:p>
        </p:txBody>
      </p:sp>
      <p:sp>
        <p:nvSpPr>
          <p:cNvPr id="62" name="Text 6">
            <a:extLst>
              <a:ext uri="{FF2B5EF4-FFF2-40B4-BE49-F238E27FC236}">
                <a16:creationId xmlns:a16="http://schemas.microsoft.com/office/drawing/2014/main" id="{4FD26B56-B6CF-1B6F-C162-29297935E2FE}"/>
              </a:ext>
            </a:extLst>
          </p:cNvPr>
          <p:cNvSpPr/>
          <p:nvPr/>
        </p:nvSpPr>
        <p:spPr>
          <a:xfrm>
            <a:off x="436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Compliance: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Canonical ontology + evidence provenance align with CCTNS, already live across 97%+ of Indian police stations.</a:t>
            </a:r>
            <a:endParaRPr lang="en-US" sz="1000" dirty="0"/>
          </a:p>
        </p:txBody>
      </p:sp>
      <p:sp>
        <p:nvSpPr>
          <p:cNvPr id="17408" name="Text 7">
            <a:extLst>
              <a:ext uri="{FF2B5EF4-FFF2-40B4-BE49-F238E27FC236}">
                <a16:creationId xmlns:a16="http://schemas.microsoft.com/office/drawing/2014/main" id="{8CE89FE1-4DBB-E4CA-34E7-796C26A45F66}"/>
              </a:ext>
            </a:extLst>
          </p:cNvPr>
          <p:cNvSpPr/>
          <p:nvPr/>
        </p:nvSpPr>
        <p:spPr>
          <a:xfrm>
            <a:off x="436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5-Layer confidence model culminating in investigation_priority — avoids subjective “risk scores” by design.</a:t>
            </a:r>
            <a:endParaRPr lang="en-US" sz="1000" dirty="0"/>
          </a:p>
        </p:txBody>
      </p:sp>
      <p:sp>
        <p:nvSpPr>
          <p:cNvPr id="17412" name="Text 8">
            <a:extLst>
              <a:ext uri="{FF2B5EF4-FFF2-40B4-BE49-F238E27FC236}">
                <a16:creationId xmlns:a16="http://schemas.microsoft.com/office/drawing/2014/main" id="{406067A1-C184-A1D1-1313-E440755C8AB9}"/>
              </a:ext>
            </a:extLst>
          </p:cNvPr>
          <p:cNvSpPr/>
          <p:nvPr/>
        </p:nvSpPr>
        <p:spPr>
          <a:xfrm>
            <a:off x="436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Outbox Pattern keeps Postgres ↔ Neo4j in sync; async Celery pipeline decouples slow AI from the live UI.</a:t>
            </a:r>
            <a:endParaRPr lang="en-US" sz="1000" dirty="0"/>
          </a:p>
        </p:txBody>
      </p:sp>
      <p:sp>
        <p:nvSpPr>
          <p:cNvPr id="17414" name="Text 9">
            <a:extLst>
              <a:ext uri="{FF2B5EF4-FFF2-40B4-BE49-F238E27FC236}">
                <a16:creationId xmlns:a16="http://schemas.microsoft.com/office/drawing/2014/main" id="{00EB9E1D-F4FE-DECD-8EF3-6FC6E10F72CE}"/>
              </a:ext>
            </a:extLst>
          </p:cNvPr>
          <p:cNvSpPr/>
          <p:nvPr/>
        </p:nvSpPr>
        <p:spPr>
          <a:xfrm>
            <a:off x="436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Built on open-source infra (Postgres, Neo4j, Redis, Kafka) — no proprietary licensing lock-in.</a:t>
            </a:r>
            <a:endParaRPr lang="en-US" sz="1000" dirty="0"/>
          </a:p>
        </p:txBody>
      </p:sp>
      <p:sp>
        <p:nvSpPr>
          <p:cNvPr id="17416" name="Shape 10">
            <a:extLst>
              <a:ext uri="{FF2B5EF4-FFF2-40B4-BE49-F238E27FC236}">
                <a16:creationId xmlns:a16="http://schemas.microsoft.com/office/drawing/2014/main" id="{204E5084-77BF-8CCF-19B0-220BFAC1F2A2}"/>
              </a:ext>
            </a:extLst>
          </p:cNvPr>
          <p:cNvSpPr/>
          <p:nvPr/>
        </p:nvSpPr>
        <p:spPr>
          <a:xfrm>
            <a:off x="5969000" y="1280160"/>
            <a:ext cx="5949176" cy="2880360"/>
          </a:xfrm>
          <a:prstGeom prst="roundRect">
            <a:avLst>
              <a:gd name="adj" fmla="val 1905"/>
            </a:avLst>
          </a:prstGeom>
          <a:solidFill>
            <a:srgbClr val="F0F4FC"/>
          </a:solidFill>
          <a:ln w="15875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17418" name="Text 11">
            <a:extLst>
              <a:ext uri="{FF2B5EF4-FFF2-40B4-BE49-F238E27FC236}">
                <a16:creationId xmlns:a16="http://schemas.microsoft.com/office/drawing/2014/main" id="{189DEEE6-D7E3-EAE4-71E8-F7E70EB1E821}"/>
              </a:ext>
            </a:extLst>
          </p:cNvPr>
          <p:cNvSpPr/>
          <p:nvPr/>
        </p:nvSpPr>
        <p:spPr>
          <a:xfrm>
            <a:off x="6151880" y="1371600"/>
            <a:ext cx="40333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VIABILITY</a:t>
            </a:r>
            <a:endParaRPr lang="en-US" sz="1400" dirty="0"/>
          </a:p>
        </p:txBody>
      </p:sp>
      <p:sp>
        <p:nvSpPr>
          <p:cNvPr id="17420" name="Text 12">
            <a:extLst>
              <a:ext uri="{FF2B5EF4-FFF2-40B4-BE49-F238E27FC236}">
                <a16:creationId xmlns:a16="http://schemas.microsoft.com/office/drawing/2014/main" id="{4FE26266-3D90-8ED5-22D3-89F157340DBB}"/>
              </a:ext>
            </a:extLst>
          </p:cNvPr>
          <p:cNvSpPr/>
          <p:nvPr/>
        </p:nvSpPr>
        <p:spPr>
          <a:xfrm>
            <a:off x="6151880" y="1737360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Fit: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Aligns directly with MHA's CCTNS mission — 15,000+ police stations already interconnected nationally.</a:t>
            </a:r>
            <a:endParaRPr lang="en-US" sz="1000" dirty="0"/>
          </a:p>
        </p:txBody>
      </p:sp>
      <p:sp>
        <p:nvSpPr>
          <p:cNvPr id="17422" name="Text 13">
            <a:extLst>
              <a:ext uri="{FF2B5EF4-FFF2-40B4-BE49-F238E27FC236}">
                <a16:creationId xmlns:a16="http://schemas.microsoft.com/office/drawing/2014/main" id="{D272786B-BDF3-1C4E-629D-911B4EA18805}"/>
              </a:ext>
            </a:extLst>
          </p:cNvPr>
          <p:cNvSpPr/>
          <p:nvPr/>
        </p:nvSpPr>
        <p:spPr>
          <a:xfrm>
            <a:off x="6151880" y="2221992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Pull: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National IPC investigation rate sits near 72%; VEILLE targets cases stalled by fragmentation, not absent data.</a:t>
            </a:r>
            <a:endParaRPr lang="en-US" sz="1000" dirty="0"/>
          </a:p>
        </p:txBody>
      </p:sp>
      <p:sp>
        <p:nvSpPr>
          <p:cNvPr id="17424" name="Text 14">
            <a:extLst>
              <a:ext uri="{FF2B5EF4-FFF2-40B4-BE49-F238E27FC236}">
                <a16:creationId xmlns:a16="http://schemas.microsoft.com/office/drawing/2014/main" id="{ECB23FE3-EA45-61BD-53C4-3E25A786C493}"/>
              </a:ext>
            </a:extLst>
          </p:cNvPr>
          <p:cNvSpPr/>
          <p:nvPr/>
        </p:nvSpPr>
        <p:spPr>
          <a:xfrm>
            <a:off x="6151880" y="2706624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Path: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State police units → paramilitary/defense intelligence → compliance-grade audit layer for allied agencies.</a:t>
            </a:r>
            <a:endParaRPr lang="en-US" sz="1000" dirty="0"/>
          </a:p>
        </p:txBody>
      </p:sp>
      <p:sp>
        <p:nvSpPr>
          <p:cNvPr id="17426" name="Text 15">
            <a:extLst>
              <a:ext uri="{FF2B5EF4-FFF2-40B4-BE49-F238E27FC236}">
                <a16:creationId xmlns:a16="http://schemas.microsoft.com/office/drawing/2014/main" id="{D8B4C561-05FC-A7C1-F1FD-C0C24CA72950}"/>
              </a:ext>
            </a:extLst>
          </p:cNvPr>
          <p:cNvSpPr/>
          <p:nvPr/>
        </p:nvSpPr>
        <p:spPr>
          <a:xfrm>
            <a:off x="6151880" y="3191256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to Adopt: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Sits downstream of data investigators already generate — no new hardware or data-collection burden.</a:t>
            </a:r>
            <a:endParaRPr lang="en-US" sz="1000" dirty="0"/>
          </a:p>
        </p:txBody>
      </p:sp>
      <p:sp>
        <p:nvSpPr>
          <p:cNvPr id="17428" name="Text 16">
            <a:extLst>
              <a:ext uri="{FF2B5EF4-FFF2-40B4-BE49-F238E27FC236}">
                <a16:creationId xmlns:a16="http://schemas.microsoft.com/office/drawing/2014/main" id="{7C3BC4C5-E180-DFE8-A25A-FDA3D2CA448F}"/>
              </a:ext>
            </a:extLst>
          </p:cNvPr>
          <p:cNvSpPr/>
          <p:nvPr/>
        </p:nvSpPr>
        <p:spPr>
          <a:xfrm>
            <a:off x="6151880" y="3675888"/>
            <a:ext cx="554584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Retention:</a:t>
            </a:r>
            <a:r>
              <a:rPr lang="en-US" sz="10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RAG assistant + review queue make it a daily investigative tool, not a one-time dashboard demo.</a:t>
            </a:r>
            <a:endParaRPr lang="en-US" sz="1000" dirty="0"/>
          </a:p>
        </p:txBody>
      </p:sp>
      <p:sp>
        <p:nvSpPr>
          <p:cNvPr id="17430" name="Shape 17">
            <a:extLst>
              <a:ext uri="{FF2B5EF4-FFF2-40B4-BE49-F238E27FC236}">
                <a16:creationId xmlns:a16="http://schemas.microsoft.com/office/drawing/2014/main" id="{4397E649-8C11-AD78-6E5F-FDB43C1B9FF5}"/>
              </a:ext>
            </a:extLst>
          </p:cNvPr>
          <p:cNvSpPr/>
          <p:nvPr/>
        </p:nvSpPr>
        <p:spPr>
          <a:xfrm>
            <a:off x="254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32" name="Text 18">
            <a:extLst>
              <a:ext uri="{FF2B5EF4-FFF2-40B4-BE49-F238E27FC236}">
                <a16:creationId xmlns:a16="http://schemas.microsoft.com/office/drawing/2014/main" id="{1678C5EF-432E-C935-C32C-71DC61E254C4}"/>
              </a:ext>
            </a:extLst>
          </p:cNvPr>
          <p:cNvSpPr/>
          <p:nvPr/>
        </p:nvSpPr>
        <p:spPr>
          <a:xfrm>
            <a:off x="436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CHALLENGES</a:t>
            </a:r>
            <a:endParaRPr lang="en-US" sz="1200" dirty="0"/>
          </a:p>
        </p:txBody>
      </p:sp>
      <p:sp>
        <p:nvSpPr>
          <p:cNvPr id="17434" name="Text 19">
            <a:extLst>
              <a:ext uri="{FF2B5EF4-FFF2-40B4-BE49-F238E27FC236}">
                <a16:creationId xmlns:a16="http://schemas.microsoft.com/office/drawing/2014/main" id="{46B0ECCC-4293-BD00-0713-198551B21F11}"/>
              </a:ext>
            </a:extLst>
          </p:cNvPr>
          <p:cNvSpPr/>
          <p:nvPr/>
        </p:nvSpPr>
        <p:spPr>
          <a:xfrm>
            <a:off x="436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↔ Postgres desync under async writes, risking orphaned or duplicate graph nodes.</a:t>
            </a:r>
            <a:endParaRPr lang="en-US" sz="1050" dirty="0"/>
          </a:p>
        </p:txBody>
      </p:sp>
      <p:sp>
        <p:nvSpPr>
          <p:cNvPr id="17436" name="Text 20">
            <a:extLst>
              <a:ext uri="{FF2B5EF4-FFF2-40B4-BE49-F238E27FC236}">
                <a16:creationId xmlns:a16="http://schemas.microsoft.com/office/drawing/2014/main" id="{D0DD9616-62D4-75C5-3E55-1A9AFA5DB6FF}"/>
              </a:ext>
            </a:extLst>
          </p:cNvPr>
          <p:cNvSpPr/>
          <p:nvPr/>
        </p:nvSpPr>
        <p:spPr>
          <a:xfrm>
            <a:off x="436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Outbox Pattern with idempotency keys — replaying an event twice still yields exactly one graph node.</a:t>
            </a:r>
            <a:endParaRPr lang="en-US" sz="1050" dirty="0"/>
          </a:p>
        </p:txBody>
      </p:sp>
      <p:sp>
        <p:nvSpPr>
          <p:cNvPr id="17438" name="Shape 21">
            <a:extLst>
              <a:ext uri="{FF2B5EF4-FFF2-40B4-BE49-F238E27FC236}">
                <a16:creationId xmlns:a16="http://schemas.microsoft.com/office/drawing/2014/main" id="{AA856973-7B37-BE2E-D279-9267C8DAB604}"/>
              </a:ext>
            </a:extLst>
          </p:cNvPr>
          <p:cNvSpPr/>
          <p:nvPr/>
        </p:nvSpPr>
        <p:spPr>
          <a:xfrm>
            <a:off x="5969000" y="4389120"/>
            <a:ext cx="5949176" cy="1920240"/>
          </a:xfrm>
          <a:prstGeom prst="roundRect">
            <a:avLst>
              <a:gd name="adj" fmla="val 2857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7440" name="Text 22">
            <a:extLst>
              <a:ext uri="{FF2B5EF4-FFF2-40B4-BE49-F238E27FC236}">
                <a16:creationId xmlns:a16="http://schemas.microsoft.com/office/drawing/2014/main" id="{D3121656-2859-5266-8E6A-9AEF6FAED2C7}"/>
              </a:ext>
            </a:extLst>
          </p:cNvPr>
          <p:cNvSpPr/>
          <p:nvPr/>
        </p:nvSpPr>
        <p:spPr>
          <a:xfrm>
            <a:off x="6151880" y="4480560"/>
            <a:ext cx="40333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/ USER CHALLENGES</a:t>
            </a:r>
            <a:endParaRPr lang="en-US" sz="1200" dirty="0"/>
          </a:p>
        </p:txBody>
      </p:sp>
      <p:sp>
        <p:nvSpPr>
          <p:cNvPr id="17442" name="Text 23">
            <a:extLst>
              <a:ext uri="{FF2B5EF4-FFF2-40B4-BE49-F238E27FC236}">
                <a16:creationId xmlns:a16="http://schemas.microsoft.com/office/drawing/2014/main" id="{21B0DAAB-7D61-8ADD-AE2C-BFC135DA3B85}"/>
              </a:ext>
            </a:extLst>
          </p:cNvPr>
          <p:cNvSpPr/>
          <p:nvPr/>
        </p:nvSpPr>
        <p:spPr>
          <a:xfrm>
            <a:off x="6151880" y="48463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Investigators may distrust AI-suggested links in a legal-evidentiary setting.</a:t>
            </a:r>
            <a:endParaRPr lang="en-US" sz="1050" dirty="0"/>
          </a:p>
        </p:txBody>
      </p:sp>
      <p:sp>
        <p:nvSpPr>
          <p:cNvPr id="17444" name="Text 24">
            <a:extLst>
              <a:ext uri="{FF2B5EF4-FFF2-40B4-BE49-F238E27FC236}">
                <a16:creationId xmlns:a16="http://schemas.microsoft.com/office/drawing/2014/main" id="{F0B747C0-07B4-502D-9FCE-87C0C0069582}"/>
              </a:ext>
            </a:extLst>
          </p:cNvPr>
          <p:cNvSpPr/>
          <p:nvPr/>
        </p:nvSpPr>
        <p:spPr>
          <a:xfrm>
            <a:off x="6151880" y="5532120"/>
            <a:ext cx="554584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inferred edge stays “candidate” until human-reviewed; ethical guardrails hardcoded to build judiciary-level trust.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372586C-5A20-AC90-21C2-0576883EC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ABCEAC23-B522-AAD9-960C-96B20E3991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4376C9A-3A79-E476-35D2-D0B7427E1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5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9" name="Shape 3">
            <a:extLst>
              <a:ext uri="{FF2B5EF4-FFF2-40B4-BE49-F238E27FC236}">
                <a16:creationId xmlns:a16="http://schemas.microsoft.com/office/drawing/2014/main" id="{F794F4A6-495A-559C-A62D-34BBF8975D0C}"/>
              </a:ext>
            </a:extLst>
          </p:cNvPr>
          <p:cNvSpPr/>
          <p:nvPr/>
        </p:nvSpPr>
        <p:spPr>
          <a:xfrm>
            <a:off x="397215" y="1315986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14" name="Image 0" descr="/home/claude/crimenet_ppt2/icons/check.png">
            <a:extLst>
              <a:ext uri="{FF2B5EF4-FFF2-40B4-BE49-F238E27FC236}">
                <a16:creationId xmlns:a16="http://schemas.microsoft.com/office/drawing/2014/main" id="{A3CEFDDC-EAC3-6B0C-7964-BF049BD62A2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1408158"/>
            <a:ext cx="199705" cy="220593"/>
          </a:xfrm>
          <a:prstGeom prst="rect">
            <a:avLst/>
          </a:prstGeom>
        </p:spPr>
      </p:pic>
      <p:sp>
        <p:nvSpPr>
          <p:cNvPr id="16" name="Text 4">
            <a:extLst>
              <a:ext uri="{FF2B5EF4-FFF2-40B4-BE49-F238E27FC236}">
                <a16:creationId xmlns:a16="http://schemas.microsoft.com/office/drawing/2014/main" id="{F080F83D-3AF0-4A83-E80F-9CE8C1FAA738}"/>
              </a:ext>
            </a:extLst>
          </p:cNvPr>
          <p:cNvSpPr/>
          <p:nvPr/>
        </p:nvSpPr>
        <p:spPr>
          <a:xfrm>
            <a:off x="927567" y="1297698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Investigative Efficiency: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Cuts hours of manual link-chart drawing to minutes of automated, evidence-linked graph reconstruction.</a:t>
            </a:r>
            <a:endParaRPr lang="en-US" sz="11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1CAF8DCC-29DA-8AF1-CF65-B9E813159A66}"/>
              </a:ext>
            </a:extLst>
          </p:cNvPr>
          <p:cNvSpPr/>
          <p:nvPr/>
        </p:nvSpPr>
        <p:spPr>
          <a:xfrm>
            <a:off x="397215" y="2065794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0" name="Image 1" descr="/home/claude/crimenet_ppt2/icons/check.png">
            <a:extLst>
              <a:ext uri="{FF2B5EF4-FFF2-40B4-BE49-F238E27FC236}">
                <a16:creationId xmlns:a16="http://schemas.microsoft.com/office/drawing/2014/main" id="{3360D1E1-675E-AB11-E5E9-7D7D4AE2A7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157966"/>
            <a:ext cx="199705" cy="220593"/>
          </a:xfrm>
          <a:prstGeom prst="rect">
            <a:avLst/>
          </a:prstGeom>
        </p:spPr>
      </p:pic>
      <p:sp>
        <p:nvSpPr>
          <p:cNvPr id="22" name="Text 6">
            <a:extLst>
              <a:ext uri="{FF2B5EF4-FFF2-40B4-BE49-F238E27FC236}">
                <a16:creationId xmlns:a16="http://schemas.microsoft.com/office/drawing/2014/main" id="{A15C1830-433A-3A76-A11C-4C251C316168}"/>
              </a:ext>
            </a:extLst>
          </p:cNvPr>
          <p:cNvSpPr/>
          <p:nvPr/>
        </p:nvSpPr>
        <p:spPr>
          <a:xfrm>
            <a:off x="927567" y="2047506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Evidentiary Integrity: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relationship is hash-traceable to its source document — defensible for judicial scrutiny.</a:t>
            </a:r>
            <a:endParaRPr lang="en-US" sz="1100" dirty="0"/>
          </a:p>
        </p:txBody>
      </p:sp>
      <p:sp>
        <p:nvSpPr>
          <p:cNvPr id="24" name="Shape 7">
            <a:extLst>
              <a:ext uri="{FF2B5EF4-FFF2-40B4-BE49-F238E27FC236}">
                <a16:creationId xmlns:a16="http://schemas.microsoft.com/office/drawing/2014/main" id="{AFE25CB8-2E87-0B32-7F18-51A9FE062090}"/>
              </a:ext>
            </a:extLst>
          </p:cNvPr>
          <p:cNvSpPr/>
          <p:nvPr/>
        </p:nvSpPr>
        <p:spPr>
          <a:xfrm>
            <a:off x="397215" y="2815602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26" name="Image 2" descr="/home/claude/crimenet_ppt2/icons/check.png">
            <a:extLst>
              <a:ext uri="{FF2B5EF4-FFF2-40B4-BE49-F238E27FC236}">
                <a16:creationId xmlns:a16="http://schemas.microsoft.com/office/drawing/2014/main" id="{47EFB3C1-FC92-792E-6408-65141489D7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2907774"/>
            <a:ext cx="199705" cy="220593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86142385-72BF-7A9A-C940-ED27D3C33E26}"/>
              </a:ext>
            </a:extLst>
          </p:cNvPr>
          <p:cNvSpPr/>
          <p:nvPr/>
        </p:nvSpPr>
        <p:spPr>
          <a:xfrm>
            <a:off x="927567" y="2797314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Civil Liberties Safeguard: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Hardcoded ethical guardrails protect against algorithmic overreach in an MHA-sponsored system.</a:t>
            </a:r>
            <a:endParaRPr lang="en-US" sz="1100" dirty="0"/>
          </a:p>
        </p:txBody>
      </p:sp>
      <p:sp>
        <p:nvSpPr>
          <p:cNvPr id="30" name="Shape 9">
            <a:extLst>
              <a:ext uri="{FF2B5EF4-FFF2-40B4-BE49-F238E27FC236}">
                <a16:creationId xmlns:a16="http://schemas.microsoft.com/office/drawing/2014/main" id="{4FCDB3CD-2CFF-3838-5045-E5E5A0F3EF83}"/>
              </a:ext>
            </a:extLst>
          </p:cNvPr>
          <p:cNvSpPr/>
          <p:nvPr/>
        </p:nvSpPr>
        <p:spPr>
          <a:xfrm>
            <a:off x="397215" y="3565410"/>
            <a:ext cx="384048" cy="424218"/>
          </a:xfrm>
          <a:prstGeom prst="ellipse">
            <a:avLst/>
          </a:prstGeom>
          <a:solidFill>
            <a:srgbClr val="EAF7F5"/>
          </a:solidFill>
          <a:ln/>
        </p:spPr>
        <p:txBody>
          <a:bodyPr/>
          <a:p/>
        </p:txBody>
      </p:sp>
      <p:pic>
        <p:nvPicPr>
          <p:cNvPr id="32" name="Image 3" descr="/home/claude/crimenet_ppt2/icons/check.png">
            <a:extLst>
              <a:ext uri="{FF2B5EF4-FFF2-40B4-BE49-F238E27FC236}">
                <a16:creationId xmlns:a16="http://schemas.microsoft.com/office/drawing/2014/main" id="{F2D7DBFC-2F2A-8B30-20E8-52A665AD01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87" y="3657582"/>
            <a:ext cx="199705" cy="220593"/>
          </a:xfrm>
          <a:prstGeom prst="rect">
            <a:avLst/>
          </a:prstGeom>
        </p:spPr>
      </p:pic>
      <p:sp>
        <p:nvSpPr>
          <p:cNvPr id="34" name="Text 10">
            <a:extLst>
              <a:ext uri="{FF2B5EF4-FFF2-40B4-BE49-F238E27FC236}">
                <a16:creationId xmlns:a16="http://schemas.microsoft.com/office/drawing/2014/main" id="{C51B3651-8D07-9587-C96B-28463C19AAF7}"/>
              </a:ext>
            </a:extLst>
          </p:cNvPr>
          <p:cNvSpPr/>
          <p:nvPr/>
        </p:nvSpPr>
        <p:spPr>
          <a:xfrm>
            <a:off x="927567" y="3547122"/>
            <a:ext cx="4663440" cy="757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Scale Fit:</a:t>
            </a:r>
            <a:endParaRPr lang="en-US" sz="11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Designed to sit downstream of CCTNS's already-digitized FIR data across 97%+ of police stations.</a:t>
            </a:r>
            <a:endParaRPr lang="en-US" sz="1100" dirty="0"/>
          </a:p>
        </p:txBody>
      </p:sp>
      <p:sp>
        <p:nvSpPr>
          <p:cNvPr id="36" name="Shape 11">
            <a:extLst>
              <a:ext uri="{FF2B5EF4-FFF2-40B4-BE49-F238E27FC236}">
                <a16:creationId xmlns:a16="http://schemas.microsoft.com/office/drawing/2014/main" id="{999BE0A3-D1A2-5C77-1CBE-D2F3D06880B7}"/>
              </a:ext>
            </a:extLst>
          </p:cNvPr>
          <p:cNvSpPr/>
          <p:nvPr/>
        </p:nvSpPr>
        <p:spPr>
          <a:xfrm>
            <a:off x="5883615" y="1315985"/>
            <a:ext cx="5943600" cy="2839341"/>
          </a:xfrm>
          <a:prstGeom prst="rect">
            <a:avLst/>
          </a:prstGeom>
          <a:solidFill>
            <a:srgbClr val="141B47"/>
          </a:solidFill>
          <a:ln/>
        </p:spPr>
        <p:txBody>
          <a:bodyPr/>
          <a:p/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3CDDA78C-05C1-4C2A-CD2E-B3295A4D78EF}"/>
              </a:ext>
            </a:extLst>
          </p:cNvPr>
          <p:cNvSpPr/>
          <p:nvPr/>
        </p:nvSpPr>
        <p:spPr>
          <a:xfrm>
            <a:off x="6020775" y="1315985"/>
            <a:ext cx="320040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00" dirty="0"/>
          </a:p>
        </p:txBody>
      </p:sp>
      <p:sp>
        <p:nvSpPr>
          <p:cNvPr id="40" name="Text 13">
            <a:extLst>
              <a:ext uri="{FF2B5EF4-FFF2-40B4-BE49-F238E27FC236}">
                <a16:creationId xmlns:a16="http://schemas.microsoft.com/office/drawing/2014/main" id="{D55A9737-68EC-350B-AF0A-C2F32DFF2668}"/>
              </a:ext>
            </a:extLst>
          </p:cNvPr>
          <p:cNvSpPr/>
          <p:nvPr/>
        </p:nvSpPr>
        <p:spPr>
          <a:xfrm>
            <a:off x="9312615" y="1315985"/>
            <a:ext cx="128016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Tools</a:t>
            </a:r>
            <a:endParaRPr lang="en-US" sz="1050" dirty="0"/>
          </a:p>
        </p:txBody>
      </p:sp>
      <p:sp>
        <p:nvSpPr>
          <p:cNvPr id="42" name="Text 14">
            <a:extLst>
              <a:ext uri="{FF2B5EF4-FFF2-40B4-BE49-F238E27FC236}">
                <a16:creationId xmlns:a16="http://schemas.microsoft.com/office/drawing/2014/main" id="{CD5A200F-BC34-E017-3FF3-DAF66775D148}"/>
              </a:ext>
            </a:extLst>
          </p:cNvPr>
          <p:cNvSpPr/>
          <p:nvPr/>
        </p:nvSpPr>
        <p:spPr>
          <a:xfrm>
            <a:off x="10592775" y="1315985"/>
            <a:ext cx="1188720" cy="36361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VEILLE</a:t>
            </a:r>
            <a:endParaRPr lang="en-US" sz="1050" dirty="0"/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9BB67177-14E5-86AA-EDA6-8A9FDCD7A5F5}"/>
              </a:ext>
            </a:extLst>
          </p:cNvPr>
          <p:cNvSpPr/>
          <p:nvPr/>
        </p:nvSpPr>
        <p:spPr>
          <a:xfrm>
            <a:off x="6020775" y="164517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NLP Extraction</a:t>
            </a:r>
            <a:endParaRPr lang="en-US" sz="1050" dirty="0"/>
          </a:p>
        </p:txBody>
      </p:sp>
      <p:pic>
        <p:nvPicPr>
          <p:cNvPr id="46" name="Image 4" descr="/home/claude/crimenet_ppt2/icons/cross.png">
            <a:extLst>
              <a:ext uri="{FF2B5EF4-FFF2-40B4-BE49-F238E27FC236}">
                <a16:creationId xmlns:a16="http://schemas.microsoft.com/office/drawing/2014/main" id="{F28C1C19-C930-5E8E-74FB-83F6892706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686318"/>
            <a:ext cx="210312" cy="232310"/>
          </a:xfrm>
          <a:prstGeom prst="rect">
            <a:avLst/>
          </a:prstGeom>
        </p:spPr>
      </p:pic>
      <p:pic>
        <p:nvPicPr>
          <p:cNvPr id="48" name="Image 5" descr="/home/claude/crimenet_ppt2/icons/check.png">
            <a:extLst>
              <a:ext uri="{FF2B5EF4-FFF2-40B4-BE49-F238E27FC236}">
                <a16:creationId xmlns:a16="http://schemas.microsoft.com/office/drawing/2014/main" id="{D96E0964-FAC2-0DEF-4D60-7EB11570E5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686318"/>
            <a:ext cx="210312" cy="232310"/>
          </a:xfrm>
          <a:prstGeom prst="rect">
            <a:avLst/>
          </a:prstGeom>
        </p:spPr>
      </p:pic>
      <p:sp>
        <p:nvSpPr>
          <p:cNvPr id="50" name="Shape 16">
            <a:extLst>
              <a:ext uri="{FF2B5EF4-FFF2-40B4-BE49-F238E27FC236}">
                <a16:creationId xmlns:a16="http://schemas.microsoft.com/office/drawing/2014/main" id="{ADB43323-5988-FAD0-6547-6ED557C1137C}"/>
              </a:ext>
            </a:extLst>
          </p:cNvPr>
          <p:cNvSpPr/>
          <p:nvPr/>
        </p:nvSpPr>
        <p:spPr>
          <a:xfrm>
            <a:off x="5883615" y="1937778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6D45B8BE-64E7-5688-74BD-850D3F2C4DCC}"/>
              </a:ext>
            </a:extLst>
          </p:cNvPr>
          <p:cNvSpPr/>
          <p:nvPr/>
        </p:nvSpPr>
        <p:spPr>
          <a:xfrm>
            <a:off x="6020775" y="193777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(Aliases)</a:t>
            </a:r>
            <a:endParaRPr lang="en-US" sz="1050" dirty="0"/>
          </a:p>
        </p:txBody>
      </p:sp>
      <p:pic>
        <p:nvPicPr>
          <p:cNvPr id="54" name="Image 6" descr="/home/claude/crimenet_ppt2/icons/cross.png">
            <a:extLst>
              <a:ext uri="{FF2B5EF4-FFF2-40B4-BE49-F238E27FC236}">
                <a16:creationId xmlns:a16="http://schemas.microsoft.com/office/drawing/2014/main" id="{B5E2F62B-08F2-BA5D-C77F-81DEACAB12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1978926"/>
            <a:ext cx="210312" cy="232310"/>
          </a:xfrm>
          <a:prstGeom prst="rect">
            <a:avLst/>
          </a:prstGeom>
        </p:spPr>
      </p:pic>
      <p:pic>
        <p:nvPicPr>
          <p:cNvPr id="56" name="Image 7" descr="/home/claude/crimenet_ppt2/icons/check.png">
            <a:extLst>
              <a:ext uri="{FF2B5EF4-FFF2-40B4-BE49-F238E27FC236}">
                <a16:creationId xmlns:a16="http://schemas.microsoft.com/office/drawing/2014/main" id="{32CAD987-2C30-F44D-3F8A-6D0842C439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1978926"/>
            <a:ext cx="210312" cy="232310"/>
          </a:xfrm>
          <a:prstGeom prst="rect">
            <a:avLst/>
          </a:prstGeom>
        </p:spPr>
      </p:pic>
      <p:sp>
        <p:nvSpPr>
          <p:cNvPr id="58" name="Text 18">
            <a:extLst>
              <a:ext uri="{FF2B5EF4-FFF2-40B4-BE49-F238E27FC236}">
                <a16:creationId xmlns:a16="http://schemas.microsoft.com/office/drawing/2014/main" id="{77842A9C-1968-2B98-0301-14547BF9F71D}"/>
              </a:ext>
            </a:extLst>
          </p:cNvPr>
          <p:cNvSpPr/>
          <p:nvPr/>
        </p:nvSpPr>
        <p:spPr>
          <a:xfrm>
            <a:off x="6020775" y="223038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5-Layer Confidence Scoring</a:t>
            </a:r>
            <a:endParaRPr lang="en-US" sz="1050" dirty="0"/>
          </a:p>
        </p:txBody>
      </p:sp>
      <p:pic>
        <p:nvPicPr>
          <p:cNvPr id="60" name="Image 8" descr="/home/claude/crimenet_ppt2/icons/cross.png">
            <a:extLst>
              <a:ext uri="{FF2B5EF4-FFF2-40B4-BE49-F238E27FC236}">
                <a16:creationId xmlns:a16="http://schemas.microsoft.com/office/drawing/2014/main" id="{32C576CA-8D44-8E98-1A1F-C958C4DB014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271534"/>
            <a:ext cx="210312" cy="232310"/>
          </a:xfrm>
          <a:prstGeom prst="rect">
            <a:avLst/>
          </a:prstGeom>
        </p:spPr>
      </p:pic>
      <p:pic>
        <p:nvPicPr>
          <p:cNvPr id="62" name="Image 9" descr="/home/claude/crimenet_ppt2/icons/check.png">
            <a:extLst>
              <a:ext uri="{FF2B5EF4-FFF2-40B4-BE49-F238E27FC236}">
                <a16:creationId xmlns:a16="http://schemas.microsoft.com/office/drawing/2014/main" id="{91E461AA-FA35-CAF0-0E97-2E90D89F31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271534"/>
            <a:ext cx="210312" cy="232310"/>
          </a:xfrm>
          <a:prstGeom prst="rect">
            <a:avLst/>
          </a:prstGeom>
        </p:spPr>
      </p:pic>
      <p:sp>
        <p:nvSpPr>
          <p:cNvPr id="17408" name="Shape 19">
            <a:extLst>
              <a:ext uri="{FF2B5EF4-FFF2-40B4-BE49-F238E27FC236}">
                <a16:creationId xmlns:a16="http://schemas.microsoft.com/office/drawing/2014/main" id="{8233EFCA-9C7C-0E0B-65C5-1C3FEC83E612}"/>
              </a:ext>
            </a:extLst>
          </p:cNvPr>
          <p:cNvSpPr/>
          <p:nvPr/>
        </p:nvSpPr>
        <p:spPr>
          <a:xfrm>
            <a:off x="5883615" y="2522994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12" name="Text 20">
            <a:extLst>
              <a:ext uri="{FF2B5EF4-FFF2-40B4-BE49-F238E27FC236}">
                <a16:creationId xmlns:a16="http://schemas.microsoft.com/office/drawing/2014/main" id="{27363F9D-28AA-9099-D17C-E03E8FE4B623}"/>
              </a:ext>
            </a:extLst>
          </p:cNvPr>
          <p:cNvSpPr/>
          <p:nvPr/>
        </p:nvSpPr>
        <p:spPr>
          <a:xfrm>
            <a:off x="6020775" y="2522994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Provenance</a:t>
            </a:r>
            <a:endParaRPr lang="en-US" sz="1050" dirty="0"/>
          </a:p>
        </p:txBody>
      </p:sp>
      <p:pic>
        <p:nvPicPr>
          <p:cNvPr id="17414" name="Image 10" descr="/home/claude/crimenet_ppt2/icons/cross.png">
            <a:extLst>
              <a:ext uri="{FF2B5EF4-FFF2-40B4-BE49-F238E27FC236}">
                <a16:creationId xmlns:a16="http://schemas.microsoft.com/office/drawing/2014/main" id="{6C0A1CA8-C449-DBA6-7494-71C713AB67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2564142"/>
            <a:ext cx="210312" cy="232310"/>
          </a:xfrm>
          <a:prstGeom prst="rect">
            <a:avLst/>
          </a:prstGeom>
        </p:spPr>
      </p:pic>
      <p:pic>
        <p:nvPicPr>
          <p:cNvPr id="17416" name="Image 11" descr="/home/claude/crimenet_ppt2/icons/check.png">
            <a:extLst>
              <a:ext uri="{FF2B5EF4-FFF2-40B4-BE49-F238E27FC236}">
                <a16:creationId xmlns:a16="http://schemas.microsoft.com/office/drawing/2014/main" id="{8DB5EC95-6F05-3E6E-B9E0-87BF854FF8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564142"/>
            <a:ext cx="210312" cy="232310"/>
          </a:xfrm>
          <a:prstGeom prst="rect">
            <a:avLst/>
          </a:prstGeom>
        </p:spPr>
      </p:pic>
      <p:sp>
        <p:nvSpPr>
          <p:cNvPr id="17418" name="Text 21">
            <a:extLst>
              <a:ext uri="{FF2B5EF4-FFF2-40B4-BE49-F238E27FC236}">
                <a16:creationId xmlns:a16="http://schemas.microsoft.com/office/drawing/2014/main" id="{BD9C0DA0-8A22-2FFA-3813-9BFDCF8C65A1}"/>
              </a:ext>
            </a:extLst>
          </p:cNvPr>
          <p:cNvSpPr/>
          <p:nvPr/>
        </p:nvSpPr>
        <p:spPr>
          <a:xfrm>
            <a:off x="6020775" y="2815602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Queue</a:t>
            </a:r>
            <a:endParaRPr lang="en-US" sz="1050" dirty="0"/>
          </a:p>
        </p:txBody>
      </p:sp>
      <p:pic>
        <p:nvPicPr>
          <p:cNvPr id="17420" name="Image 12" descr="/home/claude/crimenet_ppt2/icons/warn.png">
            <a:extLst>
              <a:ext uri="{FF2B5EF4-FFF2-40B4-BE49-F238E27FC236}">
                <a16:creationId xmlns:a16="http://schemas.microsoft.com/office/drawing/2014/main" id="{76EEE3E3-3D6A-FDC6-F98B-5C08B1EA9F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2856750"/>
            <a:ext cx="210312" cy="232310"/>
          </a:xfrm>
          <a:prstGeom prst="rect">
            <a:avLst/>
          </a:prstGeom>
        </p:spPr>
      </p:pic>
      <p:pic>
        <p:nvPicPr>
          <p:cNvPr id="17422" name="Image 13" descr="/home/claude/crimenet_ppt2/icons/check.png">
            <a:extLst>
              <a:ext uri="{FF2B5EF4-FFF2-40B4-BE49-F238E27FC236}">
                <a16:creationId xmlns:a16="http://schemas.microsoft.com/office/drawing/2014/main" id="{428C5CAE-5316-7F44-79B4-445077D5CC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2856750"/>
            <a:ext cx="210312" cy="232310"/>
          </a:xfrm>
          <a:prstGeom prst="rect">
            <a:avLst/>
          </a:prstGeom>
        </p:spPr>
      </p:pic>
      <p:sp>
        <p:nvSpPr>
          <p:cNvPr id="17424" name="Shape 22">
            <a:extLst>
              <a:ext uri="{FF2B5EF4-FFF2-40B4-BE49-F238E27FC236}">
                <a16:creationId xmlns:a16="http://schemas.microsoft.com/office/drawing/2014/main" id="{65FC8257-33C0-0FF6-1BA4-3495558C8A89}"/>
              </a:ext>
            </a:extLst>
          </p:cNvPr>
          <p:cNvSpPr/>
          <p:nvPr/>
        </p:nvSpPr>
        <p:spPr>
          <a:xfrm>
            <a:off x="5883615" y="3108210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26" name="Text 23">
            <a:extLst>
              <a:ext uri="{FF2B5EF4-FFF2-40B4-BE49-F238E27FC236}">
                <a16:creationId xmlns:a16="http://schemas.microsoft.com/office/drawing/2014/main" id="{0A9FC15C-6E4E-D880-BAD6-8199BDCCAF56}"/>
              </a:ext>
            </a:extLst>
          </p:cNvPr>
          <p:cNvSpPr/>
          <p:nvPr/>
        </p:nvSpPr>
        <p:spPr>
          <a:xfrm>
            <a:off x="6020775" y="3108210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/ Risk Scores</a:t>
            </a:r>
            <a:endParaRPr lang="en-US" sz="1050" dirty="0"/>
          </a:p>
        </p:txBody>
      </p:sp>
      <p:pic>
        <p:nvPicPr>
          <p:cNvPr id="17428" name="Image 14" descr="/home/claude/crimenet_ppt2/icons/cross.png">
            <a:extLst>
              <a:ext uri="{FF2B5EF4-FFF2-40B4-BE49-F238E27FC236}">
                <a16:creationId xmlns:a16="http://schemas.microsoft.com/office/drawing/2014/main" id="{DEBF9A2C-3FA1-1F50-A62E-B7C77167D39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149358"/>
            <a:ext cx="210312" cy="232310"/>
          </a:xfrm>
          <a:prstGeom prst="rect">
            <a:avLst/>
          </a:prstGeom>
        </p:spPr>
      </p:pic>
      <p:pic>
        <p:nvPicPr>
          <p:cNvPr id="17430" name="Image 15" descr="/home/claude/crimenet_ppt2/icons/check.png">
            <a:extLst>
              <a:ext uri="{FF2B5EF4-FFF2-40B4-BE49-F238E27FC236}">
                <a16:creationId xmlns:a16="http://schemas.microsoft.com/office/drawing/2014/main" id="{1A00DE71-0032-4C35-A56A-9B17A33812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149358"/>
            <a:ext cx="210312" cy="232310"/>
          </a:xfrm>
          <a:prstGeom prst="rect">
            <a:avLst/>
          </a:prstGeom>
        </p:spPr>
      </p:pic>
      <p:sp>
        <p:nvSpPr>
          <p:cNvPr id="17432" name="Text 24">
            <a:extLst>
              <a:ext uri="{FF2B5EF4-FFF2-40B4-BE49-F238E27FC236}">
                <a16:creationId xmlns:a16="http://schemas.microsoft.com/office/drawing/2014/main" id="{5603C380-4B7C-94B7-0A4D-7DBACF44AB8D}"/>
              </a:ext>
            </a:extLst>
          </p:cNvPr>
          <p:cNvSpPr/>
          <p:nvPr/>
        </p:nvSpPr>
        <p:spPr>
          <a:xfrm>
            <a:off x="6020775" y="3400818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Isolation (RBAC)</a:t>
            </a:r>
            <a:endParaRPr lang="en-US" sz="1050" dirty="0"/>
          </a:p>
        </p:txBody>
      </p:sp>
      <p:pic>
        <p:nvPicPr>
          <p:cNvPr id="17434" name="Image 16" descr="/home/claude/crimenet_ppt2/icons/warn.png">
            <a:extLst>
              <a:ext uri="{FF2B5EF4-FFF2-40B4-BE49-F238E27FC236}">
                <a16:creationId xmlns:a16="http://schemas.microsoft.com/office/drawing/2014/main" id="{EA458C33-54B3-5CD3-20F4-634F3409F7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97247" y="3441966"/>
            <a:ext cx="210312" cy="232310"/>
          </a:xfrm>
          <a:prstGeom prst="rect">
            <a:avLst/>
          </a:prstGeom>
        </p:spPr>
      </p:pic>
      <p:pic>
        <p:nvPicPr>
          <p:cNvPr id="17436" name="Image 17" descr="/home/claude/crimenet_ppt2/icons/check.png">
            <a:extLst>
              <a:ext uri="{FF2B5EF4-FFF2-40B4-BE49-F238E27FC236}">
                <a16:creationId xmlns:a16="http://schemas.microsoft.com/office/drawing/2014/main" id="{1E51ADCB-F991-3E5C-DA77-AC97C65088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441966"/>
            <a:ext cx="210312" cy="232310"/>
          </a:xfrm>
          <a:prstGeom prst="rect">
            <a:avLst/>
          </a:prstGeom>
        </p:spPr>
      </p:pic>
      <p:sp>
        <p:nvSpPr>
          <p:cNvPr id="17438" name="Shape 25">
            <a:extLst>
              <a:ext uri="{FF2B5EF4-FFF2-40B4-BE49-F238E27FC236}">
                <a16:creationId xmlns:a16="http://schemas.microsoft.com/office/drawing/2014/main" id="{5F640B2C-F1C5-0E35-2421-8212311C08B6}"/>
              </a:ext>
            </a:extLst>
          </p:cNvPr>
          <p:cNvSpPr/>
          <p:nvPr/>
        </p:nvSpPr>
        <p:spPr>
          <a:xfrm>
            <a:off x="5883615" y="3693426"/>
            <a:ext cx="5943600" cy="323214"/>
          </a:xfrm>
          <a:prstGeom prst="rect">
            <a:avLst/>
          </a:prstGeom>
          <a:solidFill>
            <a:srgbClr val="1A2352"/>
          </a:solidFill>
          <a:ln/>
        </p:spPr>
        <p:txBody>
          <a:bodyPr/>
          <a:p/>
        </p:txBody>
      </p:sp>
      <p:sp>
        <p:nvSpPr>
          <p:cNvPr id="17440" name="Text 26">
            <a:extLst>
              <a:ext uri="{FF2B5EF4-FFF2-40B4-BE49-F238E27FC236}">
                <a16:creationId xmlns:a16="http://schemas.microsoft.com/office/drawing/2014/main" id="{FCD11906-8EAC-0642-399F-E6ABE99D089A}"/>
              </a:ext>
            </a:extLst>
          </p:cNvPr>
          <p:cNvSpPr/>
          <p:nvPr/>
        </p:nvSpPr>
        <p:spPr>
          <a:xfrm>
            <a:off x="6020775" y="3693426"/>
            <a:ext cx="324612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Assistant w/ Citations</a:t>
            </a:r>
            <a:endParaRPr lang="en-US" sz="1050" dirty="0"/>
          </a:p>
        </p:txBody>
      </p:sp>
      <p:pic>
        <p:nvPicPr>
          <p:cNvPr id="17442" name="Image 18" descr="/home/claude/crimenet_ppt2/icons/cross.png">
            <a:extLst>
              <a:ext uri="{FF2B5EF4-FFF2-40B4-BE49-F238E27FC236}">
                <a16:creationId xmlns:a16="http://schemas.microsoft.com/office/drawing/2014/main" id="{B3A68A45-7AA2-86E7-DDED-F454BCCED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97247" y="3734574"/>
            <a:ext cx="210312" cy="232310"/>
          </a:xfrm>
          <a:prstGeom prst="rect">
            <a:avLst/>
          </a:prstGeom>
        </p:spPr>
      </p:pic>
      <p:pic>
        <p:nvPicPr>
          <p:cNvPr id="17444" name="Image 19" descr="/home/claude/crimenet_ppt2/icons/check.png">
            <a:extLst>
              <a:ext uri="{FF2B5EF4-FFF2-40B4-BE49-F238E27FC236}">
                <a16:creationId xmlns:a16="http://schemas.microsoft.com/office/drawing/2014/main" id="{62037924-B3DC-A106-E6FA-D0AC764C11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9975" y="3734574"/>
            <a:ext cx="210312" cy="232310"/>
          </a:xfrm>
          <a:prstGeom prst="rect">
            <a:avLst/>
          </a:prstGeom>
        </p:spPr>
      </p:pic>
      <p:sp>
        <p:nvSpPr>
          <p:cNvPr id="17446" name="Shape 27">
            <a:extLst>
              <a:ext uri="{FF2B5EF4-FFF2-40B4-BE49-F238E27FC236}">
                <a16:creationId xmlns:a16="http://schemas.microsoft.com/office/drawing/2014/main" id="{C132D160-7534-121A-57FA-F52AFFFA6367}"/>
              </a:ext>
            </a:extLst>
          </p:cNvPr>
          <p:cNvSpPr/>
          <p:nvPr/>
        </p:nvSpPr>
        <p:spPr>
          <a:xfrm>
            <a:off x="397215" y="4470666"/>
            <a:ext cx="11430000" cy="1767574"/>
          </a:xfrm>
          <a:prstGeom prst="roundRect">
            <a:avLst>
              <a:gd name="adj" fmla="val 342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448" name="Text 28">
            <a:extLst>
              <a:ext uri="{FF2B5EF4-FFF2-40B4-BE49-F238E27FC236}">
                <a16:creationId xmlns:a16="http://schemas.microsoft.com/office/drawing/2014/main" id="{2C93C6C7-2D4B-FD46-C3E6-B1DD275F7C3D}"/>
              </a:ext>
            </a:extLst>
          </p:cNvPr>
          <p:cNvSpPr/>
          <p:nvPr/>
        </p:nvSpPr>
        <p:spPr>
          <a:xfrm>
            <a:off x="625815" y="4580393"/>
            <a:ext cx="5486400" cy="3030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 ON THE GROUND</a:t>
            </a:r>
            <a:endParaRPr lang="en-US" sz="1400" dirty="0"/>
          </a:p>
        </p:txBody>
      </p:sp>
      <p:sp>
        <p:nvSpPr>
          <p:cNvPr id="17450" name="Shape 29">
            <a:extLst>
              <a:ext uri="{FF2B5EF4-FFF2-40B4-BE49-F238E27FC236}">
                <a16:creationId xmlns:a16="http://schemas.microsoft.com/office/drawing/2014/main" id="{D0B755A4-DFFB-FA90-5EEC-301E99BE0328}"/>
              </a:ext>
            </a:extLst>
          </p:cNvPr>
          <p:cNvSpPr/>
          <p:nvPr/>
        </p:nvSpPr>
        <p:spPr>
          <a:xfrm>
            <a:off x="62581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52" name="Image 20" descr="/home/claude/crimenet_ppt2/icons/clock.png">
            <a:extLst>
              <a:ext uri="{FF2B5EF4-FFF2-40B4-BE49-F238E27FC236}">
                <a16:creationId xmlns:a16="http://schemas.microsoft.com/office/drawing/2014/main" id="{3D705729-411C-940E-D501-147674DA702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8710" y="5096481"/>
            <a:ext cx="266273" cy="294124"/>
          </a:xfrm>
          <a:prstGeom prst="rect">
            <a:avLst/>
          </a:prstGeom>
        </p:spPr>
      </p:pic>
      <p:sp>
        <p:nvSpPr>
          <p:cNvPr id="17454" name="Text 30">
            <a:extLst>
              <a:ext uri="{FF2B5EF4-FFF2-40B4-BE49-F238E27FC236}">
                <a16:creationId xmlns:a16="http://schemas.microsoft.com/office/drawing/2014/main" id="{1935618C-9756-A7DA-D543-433B24C243C0}"/>
              </a:ext>
            </a:extLst>
          </p:cNvPr>
          <p:cNvSpPr/>
          <p:nvPr/>
        </p:nvSpPr>
        <p:spPr>
          <a:xfrm>
            <a:off x="126589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Minutes, not Hours</a:t>
            </a:r>
            <a:endParaRPr lang="en-US" sz="1400" dirty="0"/>
          </a:p>
        </p:txBody>
      </p:sp>
      <p:sp>
        <p:nvSpPr>
          <p:cNvPr id="17456" name="Text 31">
            <a:extLst>
              <a:ext uri="{FF2B5EF4-FFF2-40B4-BE49-F238E27FC236}">
                <a16:creationId xmlns:a16="http://schemas.microsoft.com/office/drawing/2014/main" id="{57518EB7-272B-2090-E05C-E119657F34F6}"/>
              </a:ext>
            </a:extLst>
          </p:cNvPr>
          <p:cNvSpPr/>
          <p:nvPr/>
        </p:nvSpPr>
        <p:spPr>
          <a:xfrm>
            <a:off x="126589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FIR upload to a resolved, queryable network</a:t>
            </a:r>
            <a:endParaRPr lang="en-US" sz="1000" dirty="0"/>
          </a:p>
        </p:txBody>
      </p:sp>
      <p:sp>
        <p:nvSpPr>
          <p:cNvPr id="17458" name="Shape 32">
            <a:extLst>
              <a:ext uri="{FF2B5EF4-FFF2-40B4-BE49-F238E27FC236}">
                <a16:creationId xmlns:a16="http://schemas.microsoft.com/office/drawing/2014/main" id="{FA135689-EE60-3E4D-F25B-8D9AA0EECC0B}"/>
              </a:ext>
            </a:extLst>
          </p:cNvPr>
          <p:cNvSpPr/>
          <p:nvPr/>
        </p:nvSpPr>
        <p:spPr>
          <a:xfrm>
            <a:off x="332329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0" name="Image 21" descr="/home/claude/crimenet_ppt2/icons/balance.png">
            <a:extLst>
              <a:ext uri="{FF2B5EF4-FFF2-40B4-BE49-F238E27FC236}">
                <a16:creationId xmlns:a16="http://schemas.microsoft.com/office/drawing/2014/main" id="{15BBD0AF-B640-EACC-2536-DD5F125E5D8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6190" y="5096481"/>
            <a:ext cx="266273" cy="294124"/>
          </a:xfrm>
          <a:prstGeom prst="rect">
            <a:avLst/>
          </a:prstGeom>
        </p:spPr>
      </p:pic>
      <p:sp>
        <p:nvSpPr>
          <p:cNvPr id="17462" name="Text 33">
            <a:extLst>
              <a:ext uri="{FF2B5EF4-FFF2-40B4-BE49-F238E27FC236}">
                <a16:creationId xmlns:a16="http://schemas.microsoft.com/office/drawing/2014/main" id="{C3AD84B0-AE7B-3CAA-B99D-EB6B24052F2B}"/>
              </a:ext>
            </a:extLst>
          </p:cNvPr>
          <p:cNvSpPr/>
          <p:nvPr/>
        </p:nvSpPr>
        <p:spPr>
          <a:xfrm>
            <a:off x="396337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Court-Defensible</a:t>
            </a:r>
            <a:endParaRPr lang="en-US" sz="1400" dirty="0"/>
          </a:p>
        </p:txBody>
      </p:sp>
      <p:sp>
        <p:nvSpPr>
          <p:cNvPr id="17464" name="Text 34">
            <a:extLst>
              <a:ext uri="{FF2B5EF4-FFF2-40B4-BE49-F238E27FC236}">
                <a16:creationId xmlns:a16="http://schemas.microsoft.com/office/drawing/2014/main" id="{7C5DFD94-7E5D-513D-FFBE-449506CB6D8F}"/>
              </a:ext>
            </a:extLst>
          </p:cNvPr>
          <p:cNvSpPr/>
          <p:nvPr/>
        </p:nvSpPr>
        <p:spPr>
          <a:xfrm>
            <a:off x="396337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traces to hash-verified source evidence</a:t>
            </a:r>
            <a:endParaRPr lang="en-US" sz="1000" dirty="0"/>
          </a:p>
        </p:txBody>
      </p:sp>
      <p:sp>
        <p:nvSpPr>
          <p:cNvPr id="17466" name="Shape 35">
            <a:extLst>
              <a:ext uri="{FF2B5EF4-FFF2-40B4-BE49-F238E27FC236}">
                <a16:creationId xmlns:a16="http://schemas.microsoft.com/office/drawing/2014/main" id="{8B2EE2CC-A147-1E6B-4207-05AEE2263898}"/>
              </a:ext>
            </a:extLst>
          </p:cNvPr>
          <p:cNvSpPr/>
          <p:nvPr/>
        </p:nvSpPr>
        <p:spPr>
          <a:xfrm>
            <a:off x="602077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68" name="Image 22" descr="/home/claude/crimenet_ppt2/icons/shield.png">
            <a:extLst>
              <a:ext uri="{FF2B5EF4-FFF2-40B4-BE49-F238E27FC236}">
                <a16:creationId xmlns:a16="http://schemas.microsoft.com/office/drawing/2014/main" id="{9A3D882D-C580-AB36-A68B-483905969D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143670" y="5096481"/>
            <a:ext cx="266273" cy="294124"/>
          </a:xfrm>
          <a:prstGeom prst="rect">
            <a:avLst/>
          </a:prstGeom>
        </p:spPr>
      </p:pic>
      <p:sp>
        <p:nvSpPr>
          <p:cNvPr id="17470" name="Text 36">
            <a:extLst>
              <a:ext uri="{FF2B5EF4-FFF2-40B4-BE49-F238E27FC236}">
                <a16:creationId xmlns:a16="http://schemas.microsoft.com/office/drawing/2014/main" id="{B9368FDB-0170-DD70-336E-27107330FF6A}"/>
              </a:ext>
            </a:extLst>
          </p:cNvPr>
          <p:cNvSpPr/>
          <p:nvPr/>
        </p:nvSpPr>
        <p:spPr>
          <a:xfrm>
            <a:off x="666085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by Design</a:t>
            </a:r>
            <a:endParaRPr lang="en-US" sz="1400" dirty="0"/>
          </a:p>
        </p:txBody>
      </p:sp>
      <p:sp>
        <p:nvSpPr>
          <p:cNvPr id="17472" name="Text 37">
            <a:extLst>
              <a:ext uri="{FF2B5EF4-FFF2-40B4-BE49-F238E27FC236}">
                <a16:creationId xmlns:a16="http://schemas.microsoft.com/office/drawing/2014/main" id="{95FEA654-A21F-C730-A42B-D42D57A6BB98}"/>
              </a:ext>
            </a:extLst>
          </p:cNvPr>
          <p:cNvSpPr/>
          <p:nvPr/>
        </p:nvSpPr>
        <p:spPr>
          <a:xfrm>
            <a:off x="666085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guilt scores — human review gates every decision</a:t>
            </a:r>
            <a:endParaRPr lang="en-US" sz="1000" dirty="0"/>
          </a:p>
        </p:txBody>
      </p:sp>
      <p:sp>
        <p:nvSpPr>
          <p:cNvPr id="17474" name="Shape 38">
            <a:extLst>
              <a:ext uri="{FF2B5EF4-FFF2-40B4-BE49-F238E27FC236}">
                <a16:creationId xmlns:a16="http://schemas.microsoft.com/office/drawing/2014/main" id="{477CDF22-FBD3-0A9C-F14C-5C07B69E1D77}"/>
              </a:ext>
            </a:extLst>
          </p:cNvPr>
          <p:cNvSpPr/>
          <p:nvPr/>
        </p:nvSpPr>
        <p:spPr>
          <a:xfrm>
            <a:off x="8718255" y="4973586"/>
            <a:ext cx="512064" cy="565624"/>
          </a:xfrm>
          <a:prstGeom prst="ellipse">
            <a:avLst/>
          </a:prstGeom>
          <a:solidFill>
            <a:srgbClr val="3A4470"/>
          </a:solidFill>
          <a:ln/>
        </p:spPr>
        <p:txBody>
          <a:bodyPr/>
          <a:p/>
        </p:txBody>
      </p:sp>
      <p:pic>
        <p:nvPicPr>
          <p:cNvPr id="17476" name="Image 23" descr="/home/claude/crimenet_ppt2/icons/landmark.png">
            <a:extLst>
              <a:ext uri="{FF2B5EF4-FFF2-40B4-BE49-F238E27FC236}">
                <a16:creationId xmlns:a16="http://schemas.microsoft.com/office/drawing/2014/main" id="{1704E9D9-66EE-F524-F017-0F24E5D1362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41150" y="5096481"/>
            <a:ext cx="266273" cy="294124"/>
          </a:xfrm>
          <a:prstGeom prst="rect">
            <a:avLst/>
          </a:prstGeom>
        </p:spPr>
      </p:pic>
      <p:sp>
        <p:nvSpPr>
          <p:cNvPr id="17478" name="Text 39">
            <a:extLst>
              <a:ext uri="{FF2B5EF4-FFF2-40B4-BE49-F238E27FC236}">
                <a16:creationId xmlns:a16="http://schemas.microsoft.com/office/drawing/2014/main" id="{A42E4241-C787-CB67-6E24-9F59B0D4CA71}"/>
              </a:ext>
            </a:extLst>
          </p:cNvPr>
          <p:cNvSpPr/>
          <p:nvPr/>
        </p:nvSpPr>
        <p:spPr>
          <a:xfrm>
            <a:off x="9358335" y="4973586"/>
            <a:ext cx="1920240" cy="32321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Scale</a:t>
            </a:r>
            <a:endParaRPr lang="en-US" sz="1400" dirty="0"/>
          </a:p>
        </p:txBody>
      </p:sp>
      <p:sp>
        <p:nvSpPr>
          <p:cNvPr id="17480" name="Text 40">
            <a:extLst>
              <a:ext uri="{FF2B5EF4-FFF2-40B4-BE49-F238E27FC236}">
                <a16:creationId xmlns:a16="http://schemas.microsoft.com/office/drawing/2014/main" id="{88FE8E6F-2E11-CABE-52B3-21A571DA91B8}"/>
              </a:ext>
            </a:extLst>
          </p:cNvPr>
          <p:cNvSpPr/>
          <p:nvPr/>
        </p:nvSpPr>
        <p:spPr>
          <a:xfrm>
            <a:off x="9358335" y="5266193"/>
            <a:ext cx="1920240" cy="5555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C7CD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Plugs into CCTNS data investigators already generate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E04B358-1D60-BFF4-BC64-B61041612E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73" y="269758"/>
            <a:ext cx="807720" cy="80772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17836FD-EF13-A2AD-C296-86EC4EF65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0D1545F-7764-7DB0-343E-676403E13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85136" y="6491375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sz="2000" b="1" smtClean="0">
                <a:solidFill>
                  <a:schemeClr val="bg1"/>
                </a:solidFill>
              </a:rPr>
              <a:pPr/>
              <a:t>6</a:t>
            </a:fld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Shape 3">
            <a:extLst>
              <a:ext uri="{FF2B5EF4-FFF2-40B4-BE49-F238E27FC236}">
                <a16:creationId xmlns:a16="http://schemas.microsoft.com/office/drawing/2014/main" id="{2FB17E58-249A-84BA-879E-054A2256EA83}"/>
              </a:ext>
            </a:extLst>
          </p:cNvPr>
          <p:cNvSpPr/>
          <p:nvPr/>
        </p:nvSpPr>
        <p:spPr>
          <a:xfrm>
            <a:off x="365760" y="1122680"/>
            <a:ext cx="11430000" cy="1234440"/>
          </a:xfrm>
          <a:prstGeom prst="roundRect">
            <a:avLst>
              <a:gd name="adj" fmla="val 4444"/>
            </a:avLst>
          </a:prstGeom>
          <a:solidFill>
            <a:srgbClr val="F7F8FC"/>
          </a:solidFill>
          <a:ln w="12700">
            <a:solidFill>
              <a:srgbClr val="E2E6F2"/>
            </a:solidFill>
            <a:prstDash val="solid"/>
          </a:ln>
        </p:spPr>
        <p:txBody>
          <a:bodyPr/>
          <a:p/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10AEDE5C-30E0-5AC5-5276-D9B09DB714B6}"/>
              </a:ext>
            </a:extLst>
          </p:cNvPr>
          <p:cNvSpPr/>
          <p:nvPr/>
        </p:nvSpPr>
        <p:spPr>
          <a:xfrm>
            <a:off x="749808" y="121412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28600" indent="-228600">
              <a:lnSpc>
                <a:spcPct val="110000"/>
              </a:lnSpc>
              <a:buFont typeface="+mj-lt"/>
              <a:buAutoNum type="arabicPeriod"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CCTNS (Crime &amp; Criminal Tracking Network &amp; Systems) connects 15,000+ police stations under NCRB, with 97%+ digitally equipped — digitalpolice.gov.in</a:t>
            </a:r>
            <a:endParaRPr lang="en-US" sz="105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970A791F-8BB8-F939-5F07-CE871EE71D50}"/>
              </a:ext>
            </a:extLst>
          </p:cNvPr>
          <p:cNvSpPr/>
          <p:nvPr/>
        </p:nvSpPr>
        <p:spPr>
          <a:xfrm>
            <a:off x="749808" y="157988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10000"/>
              </a:lnSpc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National average IPC charge-sheeting rate stands near 72%, varying sharply by state — confirming fragmentation, not data scarcity, is the bottleneck.</a:t>
            </a:r>
            <a:endParaRPr lang="en-US" sz="1050" dirty="0"/>
          </a:p>
        </p:txBody>
      </p:sp>
      <p:sp>
        <p:nvSpPr>
          <p:cNvPr id="24" name="Text 9">
            <a:extLst>
              <a:ext uri="{FF2B5EF4-FFF2-40B4-BE49-F238E27FC236}">
                <a16:creationId xmlns:a16="http://schemas.microsoft.com/office/drawing/2014/main" id="{E418136D-8ADD-F8F9-2FD9-FE89D9ABD143}"/>
              </a:ext>
            </a:extLst>
          </p:cNvPr>
          <p:cNvSpPr/>
          <p:nvPr/>
        </p:nvSpPr>
        <p:spPr>
          <a:xfrm>
            <a:off x="749808" y="1945640"/>
            <a:ext cx="10881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 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/>
              </a:rPr>
              <a:t>Link analysis 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an established investigative discipline (node-and-edge relationship mapping) that VEILLE automates and scores end-to-end.</a:t>
            </a:r>
            <a:endParaRPr lang="en-US" sz="1050" dirty="0"/>
          </a:p>
        </p:txBody>
      </p:sp>
      <p:sp>
        <p:nvSpPr>
          <p:cNvPr id="26" name="Shape 10">
            <a:extLst>
              <a:ext uri="{FF2B5EF4-FFF2-40B4-BE49-F238E27FC236}">
                <a16:creationId xmlns:a16="http://schemas.microsoft.com/office/drawing/2014/main" id="{189158D1-EF3E-27FC-9136-12E741122E5D}"/>
              </a:ext>
            </a:extLst>
          </p:cNvPr>
          <p:cNvSpPr/>
          <p:nvPr/>
        </p:nvSpPr>
        <p:spPr>
          <a:xfrm>
            <a:off x="36576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F0F4FC"/>
          </a:solidFill>
          <a:ln w="12700">
            <a:solidFill>
              <a:srgbClr val="1E2761"/>
            </a:solidFill>
            <a:prstDash val="solid"/>
          </a:ln>
        </p:spPr>
        <p:txBody>
          <a:bodyPr/>
          <a:p/>
        </p:txBody>
      </p:sp>
      <p:sp>
        <p:nvSpPr>
          <p:cNvPr id="28" name="Text 11">
            <a:extLst>
              <a:ext uri="{FF2B5EF4-FFF2-40B4-BE49-F238E27FC236}">
                <a16:creationId xmlns:a16="http://schemas.microsoft.com/office/drawing/2014/main" id="{72506326-21D3-D1C6-14A7-71344FEFE69C}"/>
              </a:ext>
            </a:extLst>
          </p:cNvPr>
          <p:cNvSpPr/>
          <p:nvPr/>
        </p:nvSpPr>
        <p:spPr>
          <a:xfrm>
            <a:off x="54864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SOLUTIONS ALREADY EXIST</a:t>
            </a:r>
            <a:endParaRPr lang="en-US" sz="1400" dirty="0"/>
          </a:p>
        </p:txBody>
      </p:sp>
      <p:sp>
        <p:nvSpPr>
          <p:cNvPr id="30" name="Text 12">
            <a:extLst>
              <a:ext uri="{FF2B5EF4-FFF2-40B4-BE49-F238E27FC236}">
                <a16:creationId xmlns:a16="http://schemas.microsoft.com/office/drawing/2014/main" id="{BF155AB0-0C72-A852-F709-BB06C15D1B47}"/>
              </a:ext>
            </a:extLst>
          </p:cNvPr>
          <p:cNvSpPr/>
          <p:nvPr/>
        </p:nvSpPr>
        <p:spPr>
          <a:xfrm>
            <a:off x="548640" y="3088640"/>
            <a:ext cx="5166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link-analysis suites (Palantir Gotham, IBM i2 Analyst's Notebook) and generic “Neo4j + LLM query” stacks exist — but are complex, costly, and not built for Indian FIR/CDR formats or MHA-grade ethical constraints.</a:t>
            </a:r>
            <a:endParaRPr lang="en-US" sz="1050" dirty="0"/>
          </a:p>
        </p:txBody>
      </p:sp>
      <p:sp>
        <p:nvSpPr>
          <p:cNvPr id="32" name="Text 13">
            <a:extLst>
              <a:ext uri="{FF2B5EF4-FFF2-40B4-BE49-F238E27FC236}">
                <a16:creationId xmlns:a16="http://schemas.microsoft.com/office/drawing/2014/main" id="{744B0481-3F64-1151-55E1-C5AF31C66165}"/>
              </a:ext>
            </a:extLst>
          </p:cNvPr>
          <p:cNvSpPr/>
          <p:nvPr/>
        </p:nvSpPr>
        <p:spPr>
          <a:xfrm>
            <a:off x="548640" y="4094480"/>
            <a:ext cx="5166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A4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TOOLS: Palantir Gotham  ·  IBM i2 Analyst's Notebook  ·  Generic Neo4j + LLM stacks</a:t>
            </a:r>
            <a:endParaRPr lang="en-US" sz="1000" dirty="0"/>
          </a:p>
        </p:txBody>
      </p:sp>
      <p:sp>
        <p:nvSpPr>
          <p:cNvPr id="34" name="Shape 14">
            <a:extLst>
              <a:ext uri="{FF2B5EF4-FFF2-40B4-BE49-F238E27FC236}">
                <a16:creationId xmlns:a16="http://schemas.microsoft.com/office/drawing/2014/main" id="{52B74200-5637-75FB-66DF-A8DDD37D6E8E}"/>
              </a:ext>
            </a:extLst>
          </p:cNvPr>
          <p:cNvSpPr/>
          <p:nvPr/>
        </p:nvSpPr>
        <p:spPr>
          <a:xfrm>
            <a:off x="6217920" y="2585720"/>
            <a:ext cx="5532120" cy="2423160"/>
          </a:xfrm>
          <a:prstGeom prst="roundRect">
            <a:avLst>
              <a:gd name="adj" fmla="val 2264"/>
            </a:avLst>
          </a:prstGeom>
          <a:solidFill>
            <a:srgbClr val="EAF7F5"/>
          </a:solidFill>
          <a:ln w="12700">
            <a:solidFill>
              <a:srgbClr val="00A896"/>
            </a:solidFill>
            <a:prstDash val="solid"/>
          </a:ln>
        </p:spPr>
        <p:txBody>
          <a:bodyPr/>
          <a:p/>
        </p:txBody>
      </p:sp>
      <p:sp>
        <p:nvSpPr>
          <p:cNvPr id="36" name="Text 15">
            <a:extLst>
              <a:ext uri="{FF2B5EF4-FFF2-40B4-BE49-F238E27FC236}">
                <a16:creationId xmlns:a16="http://schemas.microsoft.com/office/drawing/2014/main" id="{17E7485F-2C93-200F-A2FB-BC750C3B34C1}"/>
              </a:ext>
            </a:extLst>
          </p:cNvPr>
          <p:cNvSpPr/>
          <p:nvPr/>
        </p:nvSpPr>
        <p:spPr>
          <a:xfrm>
            <a:off x="6400800" y="2695448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 STANDS OUT</a:t>
            </a:r>
            <a:endParaRPr lang="en-US" sz="140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E5D980B5-76B6-FC2A-AB2A-EF7AD51D5A52}"/>
              </a:ext>
            </a:extLst>
          </p:cNvPr>
          <p:cNvSpPr/>
          <p:nvPr/>
        </p:nvSpPr>
        <p:spPr>
          <a:xfrm>
            <a:off x="6400800" y="3088640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Fusion: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not just visualization — gets clean data into the graph in the first place.</a:t>
            </a:r>
            <a:endParaRPr lang="en-US" sz="1050" dirty="0"/>
          </a:p>
        </p:txBody>
      </p:sp>
      <p:sp>
        <p:nvSpPr>
          <p:cNvPr id="40" name="Text 17">
            <a:extLst>
              <a:ext uri="{FF2B5EF4-FFF2-40B4-BE49-F238E27FC236}">
                <a16:creationId xmlns:a16="http://schemas.microsoft.com/office/drawing/2014/main" id="{3EE8AF58-26DA-BDCD-C920-3419A27F29A2}"/>
              </a:ext>
            </a:extLst>
          </p:cNvPr>
          <p:cNvSpPr/>
          <p:nvPr/>
        </p:nvSpPr>
        <p:spPr>
          <a:xfrm>
            <a:off x="6400800" y="349097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AI answer is cited back to its source document.</a:t>
            </a:r>
            <a:endParaRPr lang="en-US" sz="1050" dirty="0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D6DD9DF1-CC18-7E67-8D98-8250E1464095}"/>
              </a:ext>
            </a:extLst>
          </p:cNvPr>
          <p:cNvSpPr/>
          <p:nvPr/>
        </p:nvSpPr>
        <p:spPr>
          <a:xfrm>
            <a:off x="6400800" y="3893312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Ethically Hardcoded: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guilt/risk scores, human review always in the loop.</a:t>
            </a:r>
            <a:endParaRPr lang="en-US" sz="1050" dirty="0"/>
          </a:p>
        </p:txBody>
      </p:sp>
      <p:sp>
        <p:nvSpPr>
          <p:cNvPr id="44" name="Text 19">
            <a:extLst>
              <a:ext uri="{FF2B5EF4-FFF2-40B4-BE49-F238E27FC236}">
                <a16:creationId xmlns:a16="http://schemas.microsoft.com/office/drawing/2014/main" id="{9E01B74B-62A0-3EE5-BC5B-0CC8C4E3788C}"/>
              </a:ext>
            </a:extLst>
          </p:cNvPr>
          <p:cNvSpPr/>
          <p:nvPr/>
        </p:nvSpPr>
        <p:spPr>
          <a:xfrm>
            <a:off x="6400800" y="4295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India-Built:</a:t>
            </a:r>
            <a:r>
              <a:rPr lang="en-US" sz="105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native to FIR/CDR formats and MHA-grade case isolation.</a:t>
            </a:r>
            <a:endParaRPr lang="en-US" sz="1050" dirty="0"/>
          </a:p>
        </p:txBody>
      </p:sp>
      <p:sp>
        <p:nvSpPr>
          <p:cNvPr id="46" name="Shape 20">
            <a:extLst>
              <a:ext uri="{FF2B5EF4-FFF2-40B4-BE49-F238E27FC236}">
                <a16:creationId xmlns:a16="http://schemas.microsoft.com/office/drawing/2014/main" id="{FE81CAEE-22A3-04F3-295E-4E703154555A}"/>
              </a:ext>
            </a:extLst>
          </p:cNvPr>
          <p:cNvSpPr/>
          <p:nvPr/>
        </p:nvSpPr>
        <p:spPr>
          <a:xfrm>
            <a:off x="365760" y="5237480"/>
            <a:ext cx="11430000" cy="1051560"/>
          </a:xfrm>
          <a:prstGeom prst="roundRect">
            <a:avLst>
              <a:gd name="adj" fmla="val 521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A8BA76DA-3B70-59CC-724E-FBC780D4C046}"/>
              </a:ext>
            </a:extLst>
          </p:cNvPr>
          <p:cNvSpPr/>
          <p:nvPr/>
        </p:nvSpPr>
        <p:spPr>
          <a:xfrm>
            <a:off x="548640" y="53289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RESOURCES</a:t>
            </a:r>
            <a:endParaRPr lang="en-US" sz="1400" dirty="0"/>
          </a:p>
        </p:txBody>
      </p:sp>
      <p:sp>
        <p:nvSpPr>
          <p:cNvPr id="50" name="Text 22">
            <a:extLst>
              <a:ext uri="{FF2B5EF4-FFF2-40B4-BE49-F238E27FC236}">
                <a16:creationId xmlns:a16="http://schemas.microsoft.com/office/drawing/2014/main" id="{4277D722-EB69-2DAA-019C-999E6CDB4402}"/>
              </a:ext>
            </a:extLst>
          </p:cNvPr>
          <p:cNvSpPr/>
          <p:nvPr/>
        </p:nvSpPr>
        <p:spPr>
          <a:xfrm>
            <a:off x="54864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Video : </a:t>
            </a:r>
            <a:endParaRPr lang="en-US" sz="1000" dirty="0"/>
          </a:p>
        </p:txBody>
      </p:sp>
      <p:sp>
        <p:nvSpPr>
          <p:cNvPr id="54" name="Text 24">
            <a:extLst>
              <a:ext uri="{FF2B5EF4-FFF2-40B4-BE49-F238E27FC236}">
                <a16:creationId xmlns:a16="http://schemas.microsoft.com/office/drawing/2014/main" id="{2E11FA90-FFEB-0798-9237-060ECD062B5A}"/>
              </a:ext>
            </a:extLst>
          </p:cNvPr>
          <p:cNvSpPr/>
          <p:nvPr/>
        </p:nvSpPr>
        <p:spPr>
          <a:xfrm>
            <a:off x="8138160" y="5694680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: Figma / repo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7879</TotalTime>
  <Words>926</Words>
  <Application>Microsoft Office PowerPoint</Application>
  <PresentationFormat>Widescreen</PresentationFormat>
  <Paragraphs>104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Arial</vt:lpstr>
      <vt:lpstr>Calibri</vt:lpstr>
      <vt:lpstr>Garamond</vt:lpstr>
      <vt:lpstr>Times New Roman</vt:lpstr>
      <vt:lpstr>TradeGothic</vt:lpstr>
      <vt:lpstr>Office Theme</vt:lpstr>
      <vt:lpstr>SMART INDIA HACKATHON 2026</vt:lpstr>
      <vt:lpstr> VEILLE</vt:lpstr>
      <vt:lpstr>TECHNICAL APPROACH</vt:lpstr>
      <vt:lpstr>FEASIBILITY AND VIABILITY</vt:lpstr>
      <vt:lpstr>IMPACT AND BENEFITS</vt:lpstr>
      <vt:lpstr>RESEARCH  AND REFERENCES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Abhinav Kumar</cp:lastModifiedBy>
  <cp:revision>153</cp:revision>
  <dcterms:created xsi:type="dcterms:W3CDTF">2013-12-12T18:46:50Z</dcterms:created>
  <dcterms:modified xsi:type="dcterms:W3CDTF">2026-09-03T13:00:27Z</dcterms:modified>
  <cp:category/>
</cp:coreProperties>
</file>