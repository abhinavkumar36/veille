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defRPr sz="1800" b="1">
                <a:solidFill>
                  <a:srgbClr val="005AB4"/>
                </a:solidFill>
                <a:latin typeface="Arial"/>
              </a:defRPr>
            </a:pPr>
            <a:r>
              <a:t>VEILLE AI: Criminal Network Analysis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Problem Statement ID: </a:t>
            </a:r>
            <a:r>
              <a:rPr sz="1350" b="0">
                <a:solidFill>
                  <a:srgbClr val="005AB4"/>
                </a:solidFill>
                <a:latin typeface="Arial"/>
              </a:rPr>
              <a:t>SIH26189</a:t>
            </a:r>
            <a:endParaRPr lang="en-US" dirty="0"/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Problem Statement Title: </a:t>
            </a:r>
            <a:r>
              <a:rPr sz="1350" b="0">
                <a:solidFill>
                  <a:srgbClr val="005AB4"/>
                </a:solidFill>
                <a:latin typeface="Arial"/>
              </a:rPr>
              <a:t>AI-Powered Criminal Network Analysis System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Theme: </a:t>
            </a:r>
            <a:r>
              <a:rPr sz="1350" b="0">
                <a:solidFill>
                  <a:srgbClr val="232832"/>
                </a:solidFill>
                <a:latin typeface="Arial"/>
              </a:rPr>
              <a:t>Software — Security, Surveillance &amp; Cybersecurity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PS Category: </a:t>
            </a:r>
            <a:r>
              <a:rPr sz="1350" b="0">
                <a:solidFill>
                  <a:srgbClr val="232832"/>
                </a:solidFill>
                <a:latin typeface="Arial"/>
              </a:rPr>
              <a:t>Software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Team ID: </a:t>
            </a:r>
            <a:r>
              <a:rPr sz="1350" b="0">
                <a:solidFill>
                  <a:srgbClr val="232832"/>
                </a:solidFill>
                <a:latin typeface="Arial"/>
              </a:rPr>
              <a:t>[Your Team ID]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Team Name: </a:t>
            </a:r>
            <a:r>
              <a:rPr sz="1350" b="0">
                <a:solidFill>
                  <a:srgbClr val="232832"/>
                </a:solidFill>
                <a:latin typeface="Arial"/>
              </a:rPr>
              <a:t>[Your Registered Team Name]</a:t>
            </a:r>
          </a:p>
          <a:p>
            <a:pPr>
              <a:spcBef>
                <a:spcPts val="500"/>
              </a:spcBef>
              <a:spcAft>
                <a:spcPts val="300"/>
              </a:spcAft>
            </a:pPr>
            <a:r>
              <a:rPr sz="1350" b="1">
                <a:solidFill>
                  <a:srgbClr val="0C1E41"/>
                </a:solidFill>
                <a:latin typeface="Arial"/>
              </a:rPr>
              <a:t>Idea / Project Title: </a:t>
            </a:r>
            <a:r>
              <a:rPr sz="1350" b="0">
                <a:solidFill>
                  <a:srgbClr val="005AB4"/>
                </a:solidFill>
                <a:latin typeface="Arial"/>
              </a:rPr>
              <a:t>VEILLE AI — Multisource Intelligence Fusion Platform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>
              <a:defRPr sz="2200" b="1">
                <a:solidFill>
                  <a:srgbClr val="0C1E41"/>
                </a:solidFill>
                <a:latin typeface="Arial"/>
              </a:defRPr>
            </a:pPr>
            <a:r>
              <a:t>IDEA TITLE: VEILLE AI — INTELLIGENCE FUSION &amp; GRAPH ANALYTICS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Bef>
                <a:spcPts val="700"/>
              </a:spcBef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sz="1300" b="1">
                <a:solidFill>
                  <a:srgbClr val="005AB4"/>
                </a:solidFill>
                <a:latin typeface="Arial"/>
              </a:rPr>
              <a:t>▶  Detailed Explanation of the Proposed Solution (Architecture &amp; 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Multi-Source Intelligence Ingestion:</a:t>
            </a:r>
            <a:r>
              <a:rPr sz="1050" b="0">
                <a:solidFill>
                  <a:srgbClr val="232832"/>
                </a:solidFill>
                <a:latin typeface="Arial"/>
              </a:rPr>
              <a:t> Ingests unstructured Police FIRs, telecom CDR spreadsheets, banking Hawala ledgers, and audio wiretaps into a queryable Knowledge Graph.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Automated 5-Stage Pipeline:</a:t>
            </a:r>
            <a:r>
              <a:rPr sz="1050" b="0">
                <a:solidFill>
                  <a:srgbClr val="232832"/>
                </a:solidFill>
                <a:latin typeface="Arial"/>
              </a:rPr>
              <a:t> Evidence Vaulting (SHA-256) → InLegalNER (BNS/IPC) &amp; Whisper ASR → Outbox Synchronization → Graph Analytics → Interactive Detective Corkboard.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Active Decision-Support Workspace:</a:t>
            </a:r>
            <a:r>
              <a:rPr sz="1050" b="0">
                <a:solidFill>
                  <a:srgbClr val="232832"/>
                </a:solidFill>
                <a:latin typeface="Arial"/>
              </a:rPr>
              <a:t> Interactive investigation canvas with force-directed graphs, timeline filters, and geospatial radar tracking for law enforcement officers.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How it Addresses the Problem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Smashes Data Silos:</a:t>
            </a:r>
            <a:r>
              <a:rPr sz="1050" b="0">
                <a:solidFill>
                  <a:srgbClr val="232832"/>
                </a:solidFill>
                <a:latin typeface="Arial"/>
              </a:rPr>
              <a:t> Automatically links suspects, burner SIMs, bank accounts, and vehicles across multiple state jurisdictions and independent police stations.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Eliminates Manual Cognitive Load:</a:t>
            </a:r>
            <a:r>
              <a:rPr sz="1050" b="0">
                <a:solidFill>
                  <a:srgbClr val="232832"/>
                </a:solidFill>
                <a:latin typeface="Arial"/>
              </a:rPr>
              <a:t> Reduces link-chart drawing and manual cross-referencing latency by &gt;90%, discovering sleeper connections within milliseconds.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Court-Admissible Provenance:</a:t>
            </a:r>
            <a:r>
              <a:rPr sz="1050" b="0">
                <a:solidFill>
                  <a:srgbClr val="232832"/>
                </a:solidFill>
                <a:latin typeface="Arial"/>
              </a:rPr>
              <a:t> Maintains tamper-evident cryptographic hash chains and strict chain of custody for every extracted entity.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Innovation and Uniqueness of the Solution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Hybrid AI Architecture:</a:t>
            </a:r>
            <a:r>
              <a:rPr sz="1050" b="0">
                <a:solidFill>
                  <a:srgbClr val="232832"/>
                </a:solidFill>
                <a:latin typeface="Arial"/>
              </a:rPr>
              <a:t> Combines deterministic RBAC rules + InLegalNER (BNS/IPC Legal AI) + Graph Community Clustering (Louvain/PageRank) + Sovereign Guardrailed RAG.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Zero-Hallucination Evidence Citations:</a:t>
            </a:r>
            <a:r>
              <a:rPr sz="1050" b="0">
                <a:solidFill>
                  <a:srgbClr val="232832"/>
                </a:solidFill>
                <a:latin typeface="Arial"/>
              </a:rPr>
              <a:t> Local AI assistant strictly bounded to case evidence files with verifiable doc citations; replies out-of-scope to unauthorized queries.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Ethical AI Guardrails:</a:t>
            </a:r>
            <a:r>
              <a:rPr sz="1050" b="0">
                <a:solidFill>
                  <a:srgbClr val="232832"/>
                </a:solidFill>
                <a:latin typeface="Arial"/>
              </a:rPr>
              <a:t> Hardcoded policy boundaries ensuring AI assists and discovers connections, but never replaces human judicial decision-making.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C1E41"/>
                </a:solidFill>
                <a:latin typeface="Arial"/>
              </a:defRPr>
            </a:pPr>
            <a:r>
              <a:t>TECHNICAL APPROACH: SYSTEM ARCHITECTURE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7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1300" b="1">
                <a:solidFill>
                  <a:srgbClr val="005AB4"/>
                </a:solidFill>
                <a:latin typeface="Arial"/>
              </a:rPr>
              <a:t>▶  Technologies to be Used (Full-Stack Production Stack)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AI / ML &amp; NLP Core:</a:t>
            </a:r>
            <a:r>
              <a:rPr sz="1050" b="0">
                <a:solidFill>
                  <a:srgbClr val="232832"/>
                </a:solidFill>
                <a:latin typeface="Arial"/>
              </a:rPr>
              <a:t> InLegalNER (Indian Legal BERT tailored for BNS 2024 / IPC), OpenAI Whisper-v3 (Multilingual Speech-to-Text), FastEmbed / PyTorch embeddings.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Graph &amp; Data Stores:</a:t>
            </a:r>
            <a:r>
              <a:rPr sz="1050" b="0">
                <a:solidFill>
                  <a:srgbClr val="232832"/>
                </a:solidFill>
                <a:latin typeface="Arial"/>
              </a:rPr>
              <a:t> Neo4j (Graph Database &amp; Graph Data Science GDS), PostgreSQL 16 (Relational DB &amp; Transactional Outbox), MinIO (S3-Compatible Forensic Vault).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Backend &amp; Streaming Engine:</a:t>
            </a:r>
            <a:r>
              <a:rPr sz="1050" b="0">
                <a:solidFill>
                  <a:srgbClr val="232832"/>
                </a:solidFill>
                <a:latin typeface="Arial"/>
              </a:rPr>
              <a:t> FastAPI (Async REST Engine), Apache Kafka &amp; Celery (Asynchronous Distributed Event Ingestion &amp; Outbox Processing).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Frontend Canvas &amp; Visualizer:</a:t>
            </a:r>
            <a:r>
              <a:rPr sz="1050" b="0">
                <a:solidFill>
                  <a:srgbClr val="232832"/>
                </a:solidFill>
                <a:latin typeface="Arial"/>
              </a:rPr>
              <a:t> React 19, TypeScript, Tailwind CSS, HTML5 Canvas / D3 Force Graph, Interactive Detective Corkboard.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Methodology and Process for Implementation (5-Stage Intelligence Lifecycle)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1. Ingestion &amp; Vaulting:</a:t>
            </a:r>
            <a:r>
              <a:rPr sz="1050" b="0">
                <a:solidFill>
                  <a:srgbClr val="232832"/>
                </a:solidFill>
                <a:latin typeface="Arial"/>
              </a:rPr>
              <a:t> Raw files (.pdf, .txt, .csv, .wav) are sealed with SHA-256 checksums into MinIO object storage with immutability guarantees.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2. Multi-Modal Extraction:</a:t>
            </a:r>
            <a:r>
              <a:rPr sz="1050" b="0">
                <a:solidFill>
                  <a:srgbClr val="232832"/>
                </a:solidFill>
                <a:latin typeface="Arial"/>
              </a:rPr>
              <a:t> InLegalNER extracts suspects, aliases, locations, and IPC/BNS sections; Whisper-v3 transcribes intercepted telephony wiretaps.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3. Probabilistic Entity Resolution:</a:t>
            </a:r>
            <a:r>
              <a:rPr sz="1050" b="0">
                <a:solidFill>
                  <a:srgbClr val="232832"/>
                </a:solidFill>
                <a:latin typeface="Arial"/>
              </a:rPr>
              <a:t> Fuzzy matching (Fellegi-Sunter) resolves aliases, phone numbers, and bank accounts across disparate cases via transactional outbox.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4. Graph Analytics &amp; Community Isolation:</a:t>
            </a:r>
            <a:r>
              <a:rPr sz="1050" b="0">
                <a:solidFill>
                  <a:srgbClr val="232832"/>
                </a:solidFill>
                <a:latin typeface="Arial"/>
              </a:rPr>
              <a:t> Louvain algorithm clusters organized syndicates; PageRank &amp; Betweenness Centrality uncover Kingpin and Hawala conduit nodes.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5. Interactive Exploration &amp; RAG:</a:t>
            </a:r>
            <a:r>
              <a:rPr sz="1050" b="0">
                <a:solidFill>
                  <a:srgbClr val="232832"/>
                </a:solidFill>
                <a:latin typeface="Arial"/>
              </a:rPr>
              <a:t> Investigators explore multi-hop relationships on Detective Corkboard and query sovereign RAG assistant with grounded citations.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C1E41"/>
                </a:solidFill>
                <a:latin typeface="Arial"/>
              </a:defRPr>
            </a:pPr>
            <a:r>
              <a:t>FEASIBILITY, VIABILITY &amp; RISK MITIGATION STRATEGIES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005AB4"/>
                </a:solidFill>
                <a:latin typeface="Arial"/>
              </a:rPr>
              <a:t>▶  Analysis of Feasibility &amp; Production Viability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Sub-Second Graph Querying:</a:t>
            </a:r>
            <a:r>
              <a:rPr sz="1050" b="0">
                <a:solidFill>
                  <a:srgbClr val="232832"/>
                </a:solidFill>
                <a:latin typeface="Arial"/>
              </a:rPr>
              <a:t> Cypher queries execute in &lt;25ms across 1,000,000+ nodes and edges on standard LEA workstation hardware.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100% Air-Gapped Sovereign Deployment:</a:t>
            </a:r>
            <a:r>
              <a:rPr sz="1050" b="0">
                <a:solidFill>
                  <a:srgbClr val="232832"/>
                </a:solidFill>
                <a:latin typeface="Arial"/>
              </a:rPr>
              <a:t> Fully local on-premise execution — zero sensitive police data, FIRs, or wiretaps leave the agency intranet.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Modular Microservice Topology:</a:t>
            </a:r>
            <a:r>
              <a:rPr sz="1050" b="0">
                <a:solidFill>
                  <a:srgbClr val="232832"/>
                </a:solidFill>
                <a:latin typeface="Arial"/>
              </a:rPr>
              <a:t> Containerized Docker architecture enabling seamless horizontal scaling across State Police Headquarters and District Commissionerates.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Potential Challenges and Operational Risks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Multilingual Indian Legal Variance:</a:t>
            </a:r>
            <a:r>
              <a:rPr sz="1050" b="0">
                <a:solidFill>
                  <a:srgbClr val="232832"/>
                </a:solidFill>
                <a:latin typeface="Arial"/>
              </a:rPr>
              <a:t> Regional language FIRs, varied legal phrasing, and messy spelling of suspect aliases across Indian states.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High-Velocity Telephony Scale:</a:t>
            </a:r>
            <a:r>
              <a:rPr sz="1050" b="0">
                <a:solidFill>
                  <a:srgbClr val="232832"/>
                </a:solidFill>
                <a:latin typeface="Arial"/>
              </a:rPr>
              <a:t> Ingesting millions of daily CDR telecom log rows during multi-city syndicate operations.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Investigative False Links:</a:t>
            </a:r>
            <a:r>
              <a:rPr sz="1050" b="0">
                <a:solidFill>
                  <a:srgbClr val="232832"/>
                </a:solidFill>
                <a:latin typeface="Arial"/>
              </a:rPr>
              <a:t> Risk of false associations (e.g. shared lawyer or landlord mistaken for criminal syndicate members).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Strategies for Overcoming Challenges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Fine-Tuned Legal Models:</a:t>
            </a:r>
            <a:r>
              <a:rPr sz="1050" b="0">
                <a:solidFill>
                  <a:srgbClr val="232832"/>
                </a:solidFill>
                <a:latin typeface="Arial"/>
              </a:rPr>
              <a:t> Specialized InLegalNER models trained on Indian Supreme Court, High Court, and FIR datasets for precise BNS/IPC legal entity extraction.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Distributed Kafka Streaming:</a:t>
            </a:r>
            <a:r>
              <a:rPr sz="1050" b="0">
                <a:solidFill>
                  <a:srgbClr val="232832"/>
                </a:solidFill>
                <a:latin typeface="Arial"/>
              </a:rPr>
              <a:t> Partitioned event topics with async worker pools ensure zero dropped packets during massive telecom log uploads.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Human-in-the-Loop Review Queue:</a:t>
            </a:r>
            <a:r>
              <a:rPr sz="1050" b="0">
                <a:solidFill>
                  <a:srgbClr val="232832"/>
                </a:solidFill>
                <a:latin typeface="Arial"/>
              </a:rPr>
              <a:t> Ambiguous relationships below confidence thresholds are routed to an investigator review queue before graph commit.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C1E41"/>
                </a:solidFill>
                <a:latin typeface="Arial"/>
              </a:defRPr>
            </a:pPr>
            <a:r>
              <a:t>IMPACT AND BENEFITS: LAW ENFORCEMENT, JUDICIARY &amp; SOCIETY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005AB4"/>
                </a:solidFill>
                <a:latin typeface="Arial"/>
              </a:rPr>
              <a:t>▶  Potential Impact on Law Enforcement Agencies (Police, NIA, ED, IB)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Radical Turnaround Acceleration:</a:t>
            </a:r>
            <a:r>
              <a:rPr sz="1050" b="0">
                <a:solidFill>
                  <a:srgbClr val="232832"/>
                </a:solidFill>
                <a:latin typeface="Arial"/>
              </a:rPr>
              <a:t> Cuts multi-jurisdictional syndicate correlation from weeks of manual charting to seconds of automated graph topology.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Sleeper Cell &amp; Kingpin Isolation:</a:t>
            </a:r>
            <a:r>
              <a:rPr sz="1050" b="0">
                <a:solidFill>
                  <a:srgbClr val="232832"/>
                </a:solidFill>
                <a:latin typeface="Arial"/>
              </a:rPr>
              <a:t> Centrality metrics reveal shadow operators who never appear directly in FIRs but coordinate communications and cash flows.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Cross-Case Intelligence Synergy:</a:t>
            </a:r>
            <a:r>
              <a:rPr sz="1050" b="0">
                <a:solidFill>
                  <a:srgbClr val="232832"/>
                </a:solidFill>
                <a:latin typeface="Arial"/>
              </a:rPr>
              <a:t> Instantly links isolated crimes across state borders (e.g. extortion racket in Delhi linked to Hawala channel in Mumbai).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Comprehensive Benefits (Social, Economic, Legal &amp; Ethical)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National Security &amp; Public Safety:</a:t>
            </a:r>
            <a:r>
              <a:rPr sz="1050" b="0">
                <a:solidFill>
                  <a:srgbClr val="232832"/>
                </a:solidFill>
                <a:latin typeface="Arial"/>
              </a:rPr>
              <a:t> Proactively disrupts organized extortion cartels, human trafficking rings, and terror-financing logistics nodes.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Economic Protection &amp; AML:</a:t>
            </a:r>
            <a:r>
              <a:rPr sz="1050" b="0">
                <a:solidFill>
                  <a:srgbClr val="232832"/>
                </a:solidFill>
                <a:latin typeface="Arial"/>
              </a:rPr>
              <a:t> Exposes illicit Hawala remittance routes and shell company banking layering, recovering defrauded public funds.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Judicial Integrity &amp; Higher Convictions:</a:t>
            </a:r>
            <a:r>
              <a:rPr sz="1050" b="0">
                <a:solidFill>
                  <a:srgbClr val="232832"/>
                </a:solidFill>
                <a:latin typeface="Arial"/>
              </a:rPr>
              <a:t> Section 65B Indian Evidence Act / BSA 2023 compliant audit trails and SHA-256 tamper-proof seals ensure court admissibility.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Civil Liberties Protection:</a:t>
            </a:r>
            <a:r>
              <a:rPr sz="1050" b="0">
                <a:solidFill>
                  <a:srgbClr val="232832"/>
                </a:solidFill>
                <a:latin typeface="Arial"/>
              </a:rPr>
              <a:t> Transparent provenance prevents bias and wrongful arrest, strictly enforcing human verification on all suspect connections.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200" b="1">
                <a:solidFill>
                  <a:srgbClr val="0C1E41"/>
                </a:solidFill>
                <a:latin typeface="Arial"/>
              </a:defRPr>
            </a:pPr>
            <a:r>
              <a:t>RESEARCH FOUNDATIONS, BENCHMARKS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234440"/>
            <a:ext cx="11064240" cy="484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ts val="70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1300" b="1">
                <a:solidFill>
                  <a:srgbClr val="005AB4"/>
                </a:solidFill>
                <a:latin typeface="Arial"/>
              </a:rPr>
              <a:t>▶  Research Foundations &amp; Core Literature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Legal NLP &amp; InLegalNER:</a:t>
            </a:r>
            <a:r>
              <a:rPr sz="1050" b="0">
                <a:solidFill>
                  <a:srgbClr val="232832"/>
                </a:solidFill>
                <a:latin typeface="Arial"/>
              </a:rPr>
              <a:t> Paul, S., Mandal, A., Goyal, P., &amp; Ghosh, S. (2023) — 'Pre-trained Language Models for the Indian Legal Domain', EMNLP &amp; LREC-COLING Benchmarks.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Graph Community Detection:</a:t>
            </a:r>
            <a:r>
              <a:rPr sz="1050" b="0">
                <a:solidFill>
                  <a:srgbClr val="232832"/>
                </a:solidFill>
                <a:latin typeface="Arial"/>
              </a:rPr>
              <a:t> Blondel, V. D., Guillaume, J. L., Lambiotte, R., &amp; Lefebvre, E. (2008) — 'Fast unfolding of communities in large networks (Louvain Algorithm)', J. Stat. Mech.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Criminal Network Analytics:</a:t>
            </a:r>
            <a:r>
              <a:rPr sz="1050" b="0">
                <a:solidFill>
                  <a:srgbClr val="232832"/>
                </a:solidFill>
                <a:latin typeface="Arial"/>
              </a:rPr>
              <a:t> Sparrow, M. K. (1991) — 'The Network Approach to Criminal Intelligence Analysis: An Overview', Social Networks / FBI Law Enforcement Bulletin.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Probabilistic Record Linkage:</a:t>
            </a:r>
            <a:r>
              <a:rPr sz="1050" b="0">
                <a:solidFill>
                  <a:srgbClr val="232832"/>
                </a:solidFill>
                <a:latin typeface="Arial"/>
              </a:rPr>
              <a:t> Fellegi, I. P., &amp; Sunter, A. B. (1969) — 'A Theory for Record Linkage', Journal of the American Statistical Association.</a:t>
            </a:r>
          </a:p>
          <a:p>
            <a:pPr>
              <a:spcBef>
                <a:spcPts val="700"/>
              </a:spcBef>
              <a:spcAft>
                <a:spcPts val="200"/>
              </a:spcAft>
            </a:pPr>
            <a:r>
              <a:rPr sz="1300" b="1">
                <a:solidFill>
                  <a:srgbClr val="005AB4"/>
                </a:solidFill>
                <a:latin typeface="Arial"/>
              </a:rPr>
              <a:t>▶  Standards, Statutory Compliance &amp; Live Prototype Verification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Digital Evidence Forensics:</a:t>
            </a:r>
            <a:r>
              <a:rPr sz="1050" b="0">
                <a:solidFill>
                  <a:srgbClr val="232832"/>
                </a:solidFill>
                <a:latin typeface="Arial"/>
              </a:rPr>
              <a:t> NIST Special Publication 800-88 (Media Sanitization) &amp; ISO/IEC 27037 (Digital Evidence Identification &amp; Preservation).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Statutory Compliance:</a:t>
            </a:r>
            <a:r>
              <a:rPr sz="1050" b="0">
                <a:solidFill>
                  <a:srgbClr val="232832"/>
                </a:solidFill>
                <a:latin typeface="Arial"/>
              </a:rPr>
              <a:t> Section 65B Indian Evidence Act / Section 63 Bharatiya Sakshya Adhiniyam (BSA 2023) Electronic Evidence Certification Standards.</a:t>
            </a:r>
          </a:p>
          <a:p>
            <a:pPr lvl="1">
              <a:spcBef>
                <a:spcPts val="200"/>
              </a:spcBef>
              <a:spcAft>
                <a:spcPts val="200"/>
              </a:spcAft>
            </a:pPr>
            <a:r>
              <a:rPr sz="1050" b="1">
                <a:solidFill>
                  <a:srgbClr val="0C1E41"/>
                </a:solidFill>
                <a:latin typeface="Arial"/>
              </a:rPr>
              <a:t>• Working Codebase &amp; Live Benchmarks:</a:t>
            </a:r>
            <a:r>
              <a:rPr sz="1050" b="0">
                <a:solidFill>
                  <a:srgbClr val="232832"/>
                </a:solidFill>
                <a:latin typeface="Arial"/>
              </a:rPr>
              <a:t> Production-tested VEILLE system with automated Neo4j sync, Celery task pipelines, and real-time interactive canvas.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VEILLE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