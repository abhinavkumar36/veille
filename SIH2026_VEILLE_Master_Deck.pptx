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VEILLE //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From Fragmented Evidence to Actionable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91672" cy="8686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  <a:latin typeface="Arial"/>
              </a:defRPr>
            </a:pPr>
            <a:r>
              <a:t>“ Investigations rarely fail because data is unavailable.</a:t>
            </a:r>
            <a:br/>
            <a:r>
              <a:t>They fail because the data is fragmented, heterogeneous, and difficult to connect. ”</a:t>
            </a:r>
          </a:p>
        </p:txBody>
      </p:sp>
      <p:pic>
        <p:nvPicPr>
          <p:cNvPr id="9" name="Picture 8" descr="slide1_problem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11091672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212080"/>
            <a:ext cx="11091672" cy="86868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BOTTOM LINE:  VEILLE converts disconnected evidence into a traceable, mathematically grounded investigation graph.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VEILLE // 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VEILLE — Forensic Intelligence Fusion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43000"/>
            <a:ext cx="11091672" cy="5029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CORE WORKFLOW:   Ingest  ➔  Extract  ➔  Resolve  ➔  Connect  ➔  Verify  ➔  Investigate</a:t>
            </a:r>
          </a:p>
        </p:txBody>
      </p:sp>
      <p:pic>
        <p:nvPicPr>
          <p:cNvPr id="15" name="Picture 14" descr="slide2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83080"/>
            <a:ext cx="11091672" cy="22402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4160520"/>
            <a:ext cx="3566160" cy="2011680"/>
          </a:xfrm>
          <a:prstGeom prst="roundRect">
            <a:avLst/>
          </a:prstGeom>
          <a:solidFill>
            <a:srgbClr val="121C30"/>
          </a:solidFill>
          <a:ln w="1524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⚡ FUSE</a:t>
            </a:r>
          </a:p>
          <a:p>
            <a:pPr>
              <a:spcBef>
                <a:spcPts val="3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Heterogeneous Evidence → Unified Graph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Ingests disparate Police FIRs, telecom CDR spreadsheets, banking ledgers, and wiretaps into a structured relational knowledge graph.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4160520"/>
            <a:ext cx="3566160" cy="2011680"/>
          </a:xfrm>
          <a:prstGeom prst="roundRect">
            <a:avLst/>
          </a:prstGeom>
          <a:solidFill>
            <a:srgbClr val="121C30"/>
          </a:solidFill>
          <a:ln w="1524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🎯 RESOLVE</a:t>
            </a:r>
          </a:p>
          <a:p>
            <a:pPr>
              <a:spcBef>
                <a:spcPts val="3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Aliases &amp; Noisy Identities → Safe Matching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0.55 Lexical + 0.45 Structural scoring with strict HITL quarantine prevents accidental false merges while linking aliases.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4160520"/>
            <a:ext cx="3566160" cy="2011680"/>
          </a:xfrm>
          <a:prstGeom prst="roundRect">
            <a:avLst/>
          </a:prstGeom>
          <a:solidFill>
            <a:srgbClr val="121C30"/>
          </a:solidFill>
          <a:ln w="1524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🔎 VERIFY</a:t>
            </a:r>
          </a:p>
          <a:p>
            <a:pPr>
              <a:spcBef>
                <a:spcPts val="3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Claims → Graph + Evidence → Traceable Answers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Arial"/>
              </a:defRPr>
            </a:pPr>
            <a:r>
              <a:t>Evidence-grounded citations prove every edge and claim with SHA-256 hash provenance — zero black-box assertions.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VEILLE // TECHNICAL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Evidence ➔ Entity ➔ Relationship ➔ Intelligence</a:t>
            </a:r>
          </a:p>
        </p:txBody>
      </p:sp>
      <p:pic>
        <p:nvPicPr>
          <p:cNvPr id="15" name="Picture 14" descr="slide3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11091672" cy="34747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4892040"/>
            <a:ext cx="11091672" cy="123444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DATA FLOW &amp; DECOUPLING PHILOSOPHY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PostgreSQL 16 acts as the transactional system of record and outbox queue; Neo4j maintains the live topological knowledge graph.</a:t>
            </a:r>
            <a:br/>
            <a:r>
              <a:t>• Slow AI extraction (InLegalNER &amp; Whisper ASR) is fully decoupled via Celery workers from the fast interactive React 19 UI.</a:t>
            </a:r>
            <a:br/>
            <a:r>
              <a:t>• Tech Stack: React 19 • FastAPI • PostgreSQL 16 • Neo4j GDS • Redis • Celery • FastEmbed /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VEILLE // CORE DIFFERENTIATORS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Why VEILLE Is Different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88720"/>
            <a:ext cx="5458968" cy="2331720"/>
          </a:xfrm>
          <a:prstGeom prst="roundRect">
            <a:avLst/>
          </a:prstGeom>
          <a:solidFill>
            <a:srgbClr val="121C30"/>
          </a:solidFill>
          <a:ln w="1524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🧠 01 — Conservative Entity Resolution</a:t>
            </a:r>
          </a:p>
          <a:p>
            <a:pPr>
              <a:spcBef>
                <a:spcPts val="200"/>
              </a:spcBef>
              <a:defRPr sz="900" b="1">
                <a:solidFill>
                  <a:srgbClr val="FBBF24"/>
                </a:solidFill>
                <a:latin typeface="Arial"/>
              </a:defRPr>
            </a:pPr>
            <a:r>
              <a:t>0.55 Lexical + 0.45 Structural Scoring Model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819">
                <a:solidFill>
                  <a:srgbClr val="F8FAFC"/>
                </a:solidFill>
                <a:latin typeface="Arial"/>
              </a:defRPr>
            </a:pPr>
            <a:r>
              <a:t>• 'Vikram Mehta', 'V. Mehta', 'Vikram M.' evaluated on name similarity + shared phone/account context.</a:t>
            </a:r>
            <a:br/>
            <a:r>
              <a:t>• Score ≥ 0.85 ➔ Auto-Merge | Score 0.50–0.85 ➔ HITL Review Quarantine | Score &lt; 0.50 ➔ Separate Entity.</a:t>
            </a:r>
            <a:br/>
            <a:r>
              <a:t>• Strict conservative policy: Eliminates wrongful false merges in forensic settings.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188720"/>
            <a:ext cx="5458968" cy="2331720"/>
          </a:xfrm>
          <a:prstGeom prst="roundRect">
            <a:avLst/>
          </a:prstGeom>
          <a:solidFill>
            <a:srgbClr val="121C30"/>
          </a:solidFill>
          <a:ln w="1524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0B981"/>
                </a:solidFill>
                <a:latin typeface="Arial"/>
              </a:defRPr>
            </a:pPr>
            <a:r>
              <a:t>🔗 02 — Structured Knowledge Graph</a:t>
            </a:r>
          </a:p>
          <a:p>
            <a:pPr>
              <a:spcBef>
                <a:spcPts val="200"/>
              </a:spcBef>
              <a:defRPr sz="900" b="1">
                <a:solidFill>
                  <a:srgbClr val="FBBF24"/>
                </a:solidFill>
                <a:latin typeface="Arial"/>
              </a:defRPr>
            </a:pPr>
            <a:r>
              <a:t>Rich Typed Ontologies over Flat Mentions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819">
                <a:solidFill>
                  <a:srgbClr val="F8FAFC"/>
                </a:solidFill>
                <a:latin typeface="Arial"/>
              </a:defRPr>
            </a:pPr>
            <a:r>
              <a:t>• Replaces naive 'Person A appears in Document B' with rich semantic relationships:</a:t>
            </a:r>
            <a:br/>
            <a:r>
              <a:t>• Person  ➔  COMMUNICATES_WITH (Calls/SMS)  ➔  Person</a:t>
            </a:r>
            <a:br/>
            <a:r>
              <a:t>• Person  ➔  OWNS  ➔  Bank Account  |  LOCATED_AT  ➔  Tower Node</a:t>
            </a:r>
            <a:br/>
            <a:r>
              <a:t>• Person  ➔  OFFICER_OF  ➔  Shell Organization / Front Company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75888"/>
            <a:ext cx="5458968" cy="2331720"/>
          </a:xfrm>
          <a:prstGeom prst="roundRect">
            <a:avLst/>
          </a:prstGeom>
          <a:solidFill>
            <a:srgbClr val="121C30"/>
          </a:solidFill>
          <a:ln w="1524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🔍 03 — Claim-Level GraphRAG</a:t>
            </a:r>
          </a:p>
          <a:p>
            <a:pPr>
              <a:spcBef>
                <a:spcPts val="200"/>
              </a:spcBef>
              <a:defRPr sz="900" b="1">
                <a:solidFill>
                  <a:srgbClr val="FBBF24"/>
                </a:solidFill>
                <a:latin typeface="Arial"/>
              </a:defRPr>
            </a:pPr>
            <a:r>
              <a:t>Deterministic Grounding vs. Black-Box Assertions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819">
                <a:solidFill>
                  <a:srgbClr val="F8FAFC"/>
                </a:solidFill>
                <a:latin typeface="Arial"/>
              </a:defRPr>
            </a:pPr>
            <a:r>
              <a:t>• Never: 'AI thinks this person is suspicious.'</a:t>
            </a:r>
            <a:br/>
            <a:r>
              <a:t>• Instead: User Query ➔ Subgraph Traversal ➔ Verifiable Evidence Spans ➔ Claim Verification.</a:t>
            </a:r>
            <a:br/>
            <a:r>
              <a:t>• Output categorized strictly: SUPPORTED • PARTIALLY SUPPORTED • CONTRADICTED.</a:t>
            </a:r>
            <a:br/>
            <a:r>
              <a:t>• Strict boundary: Replies 'Out-of-Scope' if query is outside evidentiary 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675888"/>
            <a:ext cx="5458968" cy="2331720"/>
          </a:xfrm>
          <a:prstGeom prst="roundRect">
            <a:avLst/>
          </a:prstGeom>
          <a:solidFill>
            <a:srgbClr val="121C30"/>
          </a:solidFill>
          <a:ln w="1524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0B981"/>
                </a:solidFill>
                <a:latin typeface="Arial"/>
              </a:defRPr>
            </a:pPr>
            <a:r>
              <a:t>👤 04 — Human-in-the-Loop (HITL)</a:t>
            </a:r>
          </a:p>
          <a:p>
            <a:pPr>
              <a:spcBef>
                <a:spcPts val="200"/>
              </a:spcBef>
              <a:defRPr sz="900" b="1">
                <a:solidFill>
                  <a:srgbClr val="FBBF24"/>
                </a:solidFill>
                <a:latin typeface="Arial"/>
              </a:defRPr>
            </a:pPr>
            <a:r>
              <a:t>AI Proposes. Investigator Decides.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819">
                <a:solidFill>
                  <a:srgbClr val="F8FAFC"/>
                </a:solidFill>
                <a:latin typeface="Arial"/>
              </a:defRPr>
            </a:pPr>
            <a:r>
              <a:t>• Ambiguous relationship links remain quarantined as candidate suggestions until officer confirmation.</a:t>
            </a:r>
            <a:br/>
            <a:r>
              <a:t>• Zero automated arrests or warrants: Built as an intelligence exoskeleton, preserving human accountability.</a:t>
            </a:r>
            <a:br/>
            <a:r>
              <a:t>• Court-admissible Section 65B BSA compliance with SHA-256 immutable audit logs.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VEILLE // EMPIRICAL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We Don't Just Demo It — We Measure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88720"/>
            <a:ext cx="2651760" cy="21031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Arial"/>
              </a:defRPr>
            </a:pPr>
            <a:r>
              <a:t>536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Controlled Benchmark Pairs</a:t>
            </a:r>
          </a:p>
          <a:p>
            <a:pPr algn="ctr">
              <a:spcBef>
                <a:spcPts val="300"/>
              </a:spcBef>
              <a:defRPr sz="780">
                <a:solidFill>
                  <a:srgbClr val="94A3B8"/>
                </a:solidFill>
                <a:latin typeface="Arial"/>
              </a:defRPr>
            </a:pPr>
            <a:r>
              <a:t>Evaluated across Alias, Abbreviation, Initial &amp; Typo test 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188720"/>
            <a:ext cx="2651760" cy="21031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Auto-Merge Precision</a:t>
            </a:r>
          </a:p>
          <a:p>
            <a:pPr algn="ctr">
              <a:spcBef>
                <a:spcPts val="300"/>
              </a:spcBef>
              <a:defRPr sz="780">
                <a:solidFill>
                  <a:srgbClr val="94A3B8"/>
                </a:solidFill>
                <a:latin typeface="Arial"/>
              </a:defRPr>
            </a:pPr>
            <a:r>
              <a:t>238 True Positives with exactly 0 False Positives committed to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188720"/>
            <a:ext cx="2651760" cy="21031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0%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False Merge Rate</a:t>
            </a:r>
          </a:p>
          <a:p>
            <a:pPr algn="ctr">
              <a:spcBef>
                <a:spcPts val="300"/>
              </a:spcBef>
              <a:defRPr sz="780">
                <a:solidFill>
                  <a:srgbClr val="94A3B8"/>
                </a:solidFill>
                <a:latin typeface="Arial"/>
              </a:defRPr>
            </a:pPr>
            <a:r>
              <a:t>Zero accidental wrongful identity merges (Critical for forensic reliability)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188720"/>
            <a:ext cx="2651760" cy="21031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Arial"/>
              </a:defRPr>
            </a:pPr>
            <a:r>
              <a:t>17.91%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Sent to HITL Review</a:t>
            </a:r>
          </a:p>
          <a:p>
            <a:pPr algn="ctr">
              <a:spcBef>
                <a:spcPts val="300"/>
              </a:spcBef>
              <a:defRPr sz="780">
                <a:solidFill>
                  <a:srgbClr val="94A3B8"/>
                </a:solidFill>
                <a:latin typeface="Arial"/>
              </a:defRPr>
            </a:pPr>
            <a:r>
              <a:t>96 ambiguous candidate pairs safely quarantined for investigator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11091672" cy="169164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BBF24"/>
                </a:solidFill>
                <a:latin typeface="Arial"/>
              </a:defRPr>
            </a:pPr>
            <a:r>
              <a:t>MULTI-TIER VALIDATION CORPORA (Real-World &amp; Controlled Ground Truth)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  <a:latin typeface="Arial"/>
              </a:defRPr>
            </a:pPr>
            <a:r>
              <a:t>•  InLegalNER Corpus: Real Indian Judicial High Court &amp; FIR judgments for BNS / IPC legal entities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  <a:latin typeface="Arial"/>
              </a:defRPr>
            </a:pPr>
            <a:r>
              <a:t>•  ICIJ Bahamas Leaks: Real-world offshore shell company networks and nominee director filings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  <a:latin typeface="Arial"/>
              </a:defRPr>
            </a:pPr>
            <a:r>
              <a:t>•  Enron / CMU Corpus: Real communication graph tracking email hierarchies &amp; burner aliases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  <a:latin typeface="Arial"/>
              </a:defRPr>
            </a:pPr>
            <a:r>
              <a:t>•  IBM AMLWorld / Telecom: Complex synthetic money-laundering smurfing &amp; multi-hop CDR telephony matrices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  <a:latin typeface="Arial"/>
              </a:defRPr>
            </a:pPr>
            <a:r>
              <a:t>•  Storm Watch Benchmark: Controlled ground truth evaluating edge boundary accuracy &amp; entity resolution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03520"/>
            <a:ext cx="11091672" cy="777240"/>
          </a:xfrm>
          <a:prstGeom prst="roundRect">
            <a:avLst/>
          </a:prstGeom>
          <a:solidFill>
            <a:srgbClr val="0C2D4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🔒 PROVENANCE SEAL: Every benchmark dataset and evaluation run is tracked with tamper-evident metadata and SHA-256 cryptographic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VEILLE // IMPACT &amp;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From Evidence Overload to Investigative Advantage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188720"/>
            <a:ext cx="5440680" cy="3566160"/>
          </a:xfrm>
          <a:prstGeom prst="roundRect">
            <a:avLst/>
          </a:prstGeom>
          <a:solidFill>
            <a:srgbClr val="121C30"/>
          </a:solidFill>
          <a:ln w="1778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INVESTIGATIVE IMPACT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⚡ Faster Investigation</a:t>
            </a:r>
          </a:p>
          <a:p>
            <a:pPr>
              <a:spcBef>
                <a:spcPts val="100"/>
              </a:spcBef>
              <a:defRPr sz="819">
                <a:solidFill>
                  <a:srgbClr val="94A3B8"/>
                </a:solidFill>
                <a:latin typeface="Arial"/>
              </a:defRPr>
            </a:pPr>
            <a:r>
              <a:t>Automatically connect entities across fragmented FIRs, CDRs, and banking statements in seconds instead of weeks.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🎯 Safer Decisions</a:t>
            </a:r>
          </a:p>
          <a:p>
            <a:pPr>
              <a:spcBef>
                <a:spcPts val="100"/>
              </a:spcBef>
              <a:defRPr sz="819">
                <a:solidFill>
                  <a:srgbClr val="94A3B8"/>
                </a:solidFill>
                <a:latin typeface="Arial"/>
              </a:defRPr>
            </a:pPr>
            <a:r>
              <a:t>Conservative Entity Resolution + HITL review queue prevents dangerous wrongful associations and investigative bias.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🔎 Explainable Intelligence</a:t>
            </a:r>
          </a:p>
          <a:p>
            <a:pPr>
              <a:spcBef>
                <a:spcPts val="100"/>
              </a:spcBef>
              <a:defRPr sz="819">
                <a:solidFill>
                  <a:srgbClr val="94A3B8"/>
                </a:solidFill>
                <a:latin typeface="Arial"/>
              </a:defRPr>
            </a:pPr>
            <a:r>
              <a:t>Every conclusion, connection, and graph edge can be traced back to its raw source evidence span with cryptographic hashes.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📈 Scalable Architecture</a:t>
            </a:r>
          </a:p>
          <a:p>
            <a:pPr>
              <a:spcBef>
                <a:spcPts val="100"/>
              </a:spcBef>
              <a:defRPr sz="819">
                <a:solidFill>
                  <a:srgbClr val="94A3B8"/>
                </a:solidFill>
                <a:latin typeface="Arial"/>
              </a:defRPr>
            </a:pPr>
            <a:r>
              <a:t>Canonical adapter layer ingests standard police data (CCTNS / ICJS) without requiring proprietary schema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188720"/>
            <a:ext cx="5440680" cy="3566160"/>
          </a:xfrm>
          <a:prstGeom prst="roundRect">
            <a:avLst/>
          </a:prstGeom>
          <a:solidFill>
            <a:srgbClr val="121C30"/>
          </a:solidFill>
          <a:ln w="1778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STRATEGIC ROADMAP</a:t>
            </a:r>
          </a:p>
          <a:p>
            <a:pPr>
              <a:spcBef>
                <a:spcPts val="400"/>
              </a:spcBef>
              <a:defRPr sz="950" b="1">
                <a:solidFill>
                  <a:srgbClr val="FBBF24"/>
                </a:solidFill>
                <a:latin typeface="Arial"/>
              </a:defRPr>
            </a:pPr>
            <a:r>
              <a:t>TODAY (Working Prototype &amp; Core Engine)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  <a:latin typeface="Arial"/>
              </a:defRPr>
            </a:pPr>
            <a:r>
              <a:t>• Multi-source Ingestion (FIR, CDR, AML, Wiretaps)</a:t>
            </a:r>
            <a:br/>
            <a:r>
              <a:t>• InLegalNER &amp; Whisper ASR Extraction</a:t>
            </a:r>
            <a:br/>
            <a:r>
              <a:t>• Hybrid Entity Resolution (0.55/0.45) &amp; HITL Review</a:t>
            </a:r>
            <a:br/>
            <a:r>
              <a:t>• Neo4j Graph Topology + Louvain / PageRank GDS</a:t>
            </a:r>
            <a:br/>
            <a:r>
              <a:t>• Claim-Level GraphRAG w/ Evidence Citations</a:t>
            </a:r>
          </a:p>
          <a:p>
            <a:pPr>
              <a:spcBef>
                <a:spcPts val="400"/>
              </a:spcBef>
              <a:defRPr sz="950" b="1">
                <a:solidFill>
                  <a:srgbClr val="FBBF24"/>
                </a:solidFill>
                <a:latin typeface="Arial"/>
              </a:defRPr>
            </a:pPr>
            <a:r>
              <a:t>NEXT (Production Rollout &amp; Enhancements)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  <a:latin typeface="Arial"/>
              </a:defRPr>
            </a:pPr>
            <a:r>
              <a:t>• Fine-Tuned Regional Indian Language Legal NER</a:t>
            </a:r>
            <a:br/>
            <a:r>
              <a:t>• Advanced Temporal Sequence &amp; Movement Extraction</a:t>
            </a:r>
            <a:br/>
            <a:r>
              <a:t>• Automated Section 65B Electronic Evidence Dossier Gen</a:t>
            </a:r>
            <a:br/>
            <a:r>
              <a:t>• Interoperability with State CCTNS / ICJS Police Hubs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11091672" cy="77724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“ VEILLE doesn't replace the investigator. It gives the investigator a connected view of the evidence. ”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VEILLE // See the connections. Verify the evidence. Act with confidence.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