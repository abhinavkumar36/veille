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800" b="1">
                <a:solidFill>
                  <a:srgbClr val="005AB4"/>
                </a:solidFill>
                <a:latin typeface="Arial"/>
              </a:defRPr>
            </a:pPr>
            <a:r>
              <a:t>VEILLE AI: Criminal Network Analysis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Problem Statement ID: </a:t>
            </a:r>
            <a:r>
              <a:rPr sz="1350" b="0">
                <a:solidFill>
                  <a:srgbClr val="005AB4"/>
                </a:solidFill>
                <a:latin typeface="Arial"/>
              </a:rPr>
              <a:t>SIH26189</a:t>
            </a:r>
            <a:endParaRPr lang="en-US" dirty="0"/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Problem Statement Title: </a:t>
            </a:r>
            <a:r>
              <a:rPr sz="1350" b="0">
                <a:solidFill>
                  <a:srgbClr val="005AB4"/>
                </a:solidFill>
                <a:latin typeface="Arial"/>
              </a:rPr>
              <a:t>AI-Powered Criminal Network Analysis System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Theme: </a:t>
            </a:r>
            <a:r>
              <a:rPr sz="1350" b="0">
                <a:solidFill>
                  <a:srgbClr val="232832"/>
                </a:solidFill>
                <a:latin typeface="Arial"/>
              </a:rPr>
              <a:t>Software — Security, Surveillance &amp; Cybersecurity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PS Category: </a:t>
            </a:r>
            <a:r>
              <a:rPr sz="1350" b="0">
                <a:solidFill>
                  <a:srgbClr val="232832"/>
                </a:solidFill>
                <a:latin typeface="Arial"/>
              </a:rPr>
              <a:t>Software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Team ID: </a:t>
            </a:r>
            <a:r>
              <a:rPr sz="1350" b="0">
                <a:solidFill>
                  <a:srgbClr val="232832"/>
                </a:solidFill>
                <a:latin typeface="Arial"/>
              </a:rPr>
              <a:t>[Your Team ID]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Team Name: </a:t>
            </a:r>
            <a:r>
              <a:rPr sz="1350" b="0">
                <a:solidFill>
                  <a:srgbClr val="232832"/>
                </a:solidFill>
                <a:latin typeface="Arial"/>
              </a:rPr>
              <a:t>[Your Registered Team Name]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Idea / Project Title: </a:t>
            </a:r>
            <a:r>
              <a:rPr sz="1350" b="0">
                <a:solidFill>
                  <a:srgbClr val="005AB4"/>
                </a:solidFill>
                <a:latin typeface="Arial"/>
              </a:rPr>
              <a:t>VEILLE AI — Multisource Intelligence Fusion Platform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100" b="1">
                <a:solidFill>
                  <a:srgbClr val="0C1E41"/>
                </a:solidFill>
                <a:latin typeface="Arial"/>
              </a:defRPr>
            </a:pPr>
            <a:r>
              <a:t>IDEA TITLE: VEILLE AI — INTELLIGENCE FUSION &amp; GRAPH ANALYTICS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48640" y="114300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5AB4"/>
                </a:solidFill>
                <a:latin typeface="Arial"/>
              </a:rPr>
              <a:t>▶  Proposed Solution (Multisource Intelligence Fusion &amp; Knowledge Graph)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Automated Ingestion Engine:</a:t>
            </a:r>
            <a:r>
              <a:rPr sz="1000">
                <a:solidFill>
                  <a:srgbClr val="232832"/>
                </a:solidFill>
                <a:latin typeface="Arial"/>
              </a:rPr>
              <a:t> Consolidates unstructured Police FIRs, telecom CDR spreadsheets, banking Hawala ledgers, and wiretaps into a unified queryable Neo4j Graph.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How it Solves the Problem:</a:t>
            </a:r>
            <a:r>
              <a:rPr sz="1000">
                <a:solidFill>
                  <a:srgbClr val="232832"/>
                </a:solidFill>
                <a:latin typeface="Arial"/>
              </a:rPr>
              <a:t> Smashes cross-jurisdictional data silos; cuts manual link-chart drawing latency by &gt;90% while detecting sleeper cells and shared burner SIMs.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Innovation &amp; Uniqueness:</a:t>
            </a:r>
            <a:r>
              <a:rPr sz="1000">
                <a:solidFill>
                  <a:srgbClr val="232832"/>
                </a:solidFill>
                <a:latin typeface="Arial"/>
              </a:rPr>
              <a:t> Combines InLegalNER (BNS/IPC Legal AI) + Louvain Community Clustering + Evidence-Grounded Sovereign RAG (replies out-of-scope to protect integrity).</a:t>
            </a:r>
          </a:p>
        </p:txBody>
      </p:sp>
      <p:pic>
        <p:nvPicPr>
          <p:cNvPr id="15364" name="Picture 15363" descr="pipelin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86200"/>
            <a:ext cx="111556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100" b="1">
                <a:solidFill>
                  <a:srgbClr val="0C1E41"/>
                </a:solidFill>
                <a:latin typeface="Arial"/>
              </a:defRPr>
            </a:pPr>
            <a:r>
              <a:t>TECHNICAL APPROACH: ARCHITECTURE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5AB4"/>
                </a:solidFill>
                <a:latin typeface="Arial"/>
              </a:rPr>
              <a:t>▶  Technologies to be Used &amp; Core Production Stack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AI &amp; NLP Stack:</a:t>
            </a:r>
            <a:r>
              <a:rPr sz="1000">
                <a:solidFill>
                  <a:srgbClr val="232832"/>
                </a:solidFill>
                <a:latin typeface="Arial"/>
              </a:rPr>
              <a:t> InLegalNER (Indian Legal BERT for BNS 2024 / IPC), OpenAI Whisper-v3 (Speech ASR), FastEmbed Vector Embeddings.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Graph &amp; Database Infrastructure:</a:t>
            </a:r>
            <a:r>
              <a:rPr sz="1000">
                <a:solidFill>
                  <a:srgbClr val="232832"/>
                </a:solidFill>
                <a:latin typeface="Arial"/>
              </a:rPr>
              <a:t> Neo4j (Graph Database &amp; Graph Data Science GDS), PostgreSQL 16 (Transactional Outbox), MinIO (S3 Evidence Vault).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Backend, Streaming &amp; UI:</a:t>
            </a:r>
            <a:r>
              <a:rPr sz="1000">
                <a:solidFill>
                  <a:srgbClr val="232832"/>
                </a:solidFill>
                <a:latin typeface="Arial"/>
              </a:rPr>
              <a:t> FastAPI (Async REST), Apache Kafka &amp; Celery (Outbox Stream Ingestion), React 19, TypeScript &amp; D3 Force Graph Canvas.</a:t>
            </a:r>
          </a:p>
        </p:txBody>
      </p:sp>
      <p:pic>
        <p:nvPicPr>
          <p:cNvPr id="17412" name="Picture 17411" descr="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94760"/>
            <a:ext cx="111556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100" b="1">
                <a:solidFill>
                  <a:srgbClr val="0C1E41"/>
                </a:solidFill>
                <a:latin typeface="Arial"/>
              </a:defRPr>
            </a:pPr>
            <a:r>
              <a:t>FEASIBILITY, VIABILITY &amp; RISK MITIGATION STRATEGIES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05AB4"/>
                </a:solidFill>
                <a:latin typeface="Arial"/>
              </a:rPr>
              <a:t>▶  Analysis of Feasibility &amp; Production Viability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Sub-Second Graph Querying:</a:t>
            </a:r>
            <a:r>
              <a:rPr sz="1000">
                <a:solidFill>
                  <a:srgbClr val="232832"/>
                </a:solidFill>
                <a:latin typeface="Arial"/>
              </a:rPr>
              <a:t> Cypher queries execute in &lt;25ms across 1,000,000+ nodes and edges on standard LEA workstation hardware.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100% Air-Gapped Sovereign Deployment:</a:t>
            </a:r>
            <a:r>
              <a:rPr sz="1000">
                <a:solidFill>
                  <a:srgbClr val="232832"/>
                </a:solidFill>
                <a:latin typeface="Arial"/>
              </a:rPr>
              <a:t> Fully local on-premise execution — zero sensitive police data, FIRs, or wiretaps leave the agency intranet.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Modular Microservice Scalability:</a:t>
            </a:r>
            <a:r>
              <a:rPr sz="1000">
                <a:solidFill>
                  <a:srgbClr val="232832"/>
                </a:solidFill>
                <a:latin typeface="Arial"/>
              </a:rPr>
              <a:t> Containerized Docker architecture enabling horizontal scaling across State Police HQs and District Commissionerates.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05AB4"/>
                </a:solidFill>
                <a:latin typeface="Arial"/>
              </a:rPr>
              <a:t>▶  Potential Challenges &amp; Operational Risks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Multilingual Indian Legal Variance:</a:t>
            </a:r>
            <a:r>
              <a:rPr sz="1000">
                <a:solidFill>
                  <a:srgbClr val="232832"/>
                </a:solidFill>
                <a:latin typeface="Arial"/>
              </a:rPr>
              <a:t> Regional language FIRs, varied legal phrasing, and noisy spelling of suspect aliases across Indian states.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High-Velocity Telephony Scale:</a:t>
            </a:r>
            <a:r>
              <a:rPr sz="1000">
                <a:solidFill>
                  <a:srgbClr val="232832"/>
                </a:solidFill>
                <a:latin typeface="Arial"/>
              </a:rPr>
              <a:t> Ingesting millions of daily CDR telecom log rows during multi-city syndicate operations.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Investigative False Links:</a:t>
            </a:r>
            <a:r>
              <a:rPr sz="1000">
                <a:solidFill>
                  <a:srgbClr val="232832"/>
                </a:solidFill>
                <a:latin typeface="Arial"/>
              </a:rPr>
              <a:t> Risk of false associations (e.g. shared lawyer or landlord mistaken for criminal syndicate members).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05AB4"/>
                </a:solidFill>
                <a:latin typeface="Arial"/>
              </a:rPr>
              <a:t>▶  Strategies for Overcoming Challenges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Fine-Tuned Legal Models:</a:t>
            </a:r>
            <a:r>
              <a:rPr sz="1000">
                <a:solidFill>
                  <a:srgbClr val="232832"/>
                </a:solidFill>
                <a:latin typeface="Arial"/>
              </a:rPr>
              <a:t> Specialized InLegalNER models trained on Indian Supreme Court, High Court, and FIR datasets for precise BNS/IPC extraction.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Distributed Kafka Streaming:</a:t>
            </a:r>
            <a:r>
              <a:rPr sz="1000">
                <a:solidFill>
                  <a:srgbClr val="232832"/>
                </a:solidFill>
                <a:latin typeface="Arial"/>
              </a:rPr>
              <a:t> Partitioned event topics with async worker pools ensure zero dropped packets during massive telecom log uploads.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Human-in-the-Loop Review Queue:</a:t>
            </a:r>
            <a:r>
              <a:rPr sz="1000">
                <a:solidFill>
                  <a:srgbClr val="232832"/>
                </a:solidFill>
                <a:latin typeface="Arial"/>
              </a:rPr>
              <a:t> Ambiguous relationships below confidence thresholds are routed to an investigator review queue before graph commit.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100" b="1">
                <a:solidFill>
                  <a:srgbClr val="0C1E41"/>
                </a:solidFill>
                <a:latin typeface="Arial"/>
              </a:defRPr>
            </a:pPr>
            <a:r>
              <a:t>IMPACT AND BENEFITS: LAW ENFORCEMENT &amp; SOCIETY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4300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05AB4"/>
                </a:solidFill>
                <a:latin typeface="Arial"/>
              </a:rPr>
              <a:t>▶  Potential Impact on Law Enforcement &amp; Public Safety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Radical Turnaround Acceleration:</a:t>
            </a:r>
            <a:r>
              <a:rPr sz="1000">
                <a:solidFill>
                  <a:srgbClr val="232832"/>
                </a:solidFill>
                <a:latin typeface="Arial"/>
              </a:rPr>
              <a:t> Cuts multi-jurisdictional syndicate correlation from weeks of manual charting to seconds of automated graph topology.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Sleeper Cell &amp; Kingpin Isolation:</a:t>
            </a:r>
            <a:r>
              <a:rPr sz="1000">
                <a:solidFill>
                  <a:srgbClr val="232832"/>
                </a:solidFill>
                <a:latin typeface="Arial"/>
              </a:rPr>
              <a:t> Centrality metrics reveal shadow operators who never appear directly in FIRs but coordinate communications and cash flows.</a:t>
            </a:r>
          </a:p>
          <a:p>
            <a:pPr lvl="1"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C1E41"/>
                </a:solidFill>
                <a:latin typeface="Arial"/>
              </a:rPr>
              <a:t>• Judicial Integrity &amp; Sec 65B Compliance:</a:t>
            </a:r>
            <a:r>
              <a:rPr sz="1000">
                <a:solidFill>
                  <a:srgbClr val="232832"/>
                </a:solidFill>
                <a:latin typeface="Arial"/>
              </a:rPr>
              <a:t> Section 65B Indian Evidence Act / BSA 2023 compliant audit trails and SHA-256 seals ensure court admissibility.</a:t>
            </a:r>
          </a:p>
        </p:txBody>
      </p:sp>
      <p:pic>
        <p:nvPicPr>
          <p:cNvPr id="17412" name="Picture 17411" descr="comparis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31920"/>
            <a:ext cx="11155680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100" b="1">
                <a:solidFill>
                  <a:srgbClr val="0C1E41"/>
                </a:solidFill>
                <a:latin typeface="Arial"/>
              </a:defRPr>
            </a:pPr>
            <a:r>
              <a:t>RESEARCH FOUNDATIONS, BENCHMARKS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50" b="1">
                <a:solidFill>
                  <a:srgbClr val="005AB4"/>
                </a:solidFill>
                <a:latin typeface="Arial"/>
              </a:rPr>
              <a:t>▶  Academic Research &amp; Core Network Science Literature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Legal NLP &amp; InLegalNER:</a:t>
            </a:r>
            <a:r>
              <a:rPr sz="1050">
                <a:solidFill>
                  <a:srgbClr val="232832"/>
                </a:solidFill>
                <a:latin typeface="Arial"/>
              </a:rPr>
              <a:t> Paul, S., Mandal, A., Goyal, P., &amp; Ghosh, S. (2023) — 'Pre-trained Language Models for the Indian Legal Domain', EMNLP &amp; LREC-COLING Benchmarks.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Graph Community Detection:</a:t>
            </a:r>
            <a:r>
              <a:rPr sz="1050">
                <a:solidFill>
                  <a:srgbClr val="232832"/>
                </a:solidFill>
                <a:latin typeface="Arial"/>
              </a:rPr>
              <a:t> Blondel, V. D., Guillaume, J. L., Lambiotte, R., &amp; Lefebvre, E. (2008) — 'Fast unfolding of communities in large networks (Louvain Algorithm)', J. Stat. Mech.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Criminal Network Analytics:</a:t>
            </a:r>
            <a:r>
              <a:rPr sz="1050">
                <a:solidFill>
                  <a:srgbClr val="232832"/>
                </a:solidFill>
                <a:latin typeface="Arial"/>
              </a:rPr>
              <a:t> Sparrow, M. K. (1991) — 'The Network Approach to Criminal Intelligence Analysis: An Overview', Social Networks / FBI Law Enforcement Bulletin.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Probabilistic Record Linkage:</a:t>
            </a:r>
            <a:r>
              <a:rPr sz="1050">
                <a:solidFill>
                  <a:srgbClr val="232832"/>
                </a:solidFill>
                <a:latin typeface="Arial"/>
              </a:rPr>
              <a:t> Fellegi, I. P., &amp; Sunter, A. B. (1969) — 'A Theory for Record Linkage', Journal of the American Statistical Association.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50" b="1">
                <a:solidFill>
                  <a:srgbClr val="005AB4"/>
                </a:solidFill>
                <a:latin typeface="Arial"/>
              </a:rPr>
              <a:t>▶  Standards, Statutory Compliance &amp; Live Prototype Verification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Digital Evidence Forensics:</a:t>
            </a:r>
            <a:r>
              <a:rPr sz="1050">
                <a:solidFill>
                  <a:srgbClr val="232832"/>
                </a:solidFill>
                <a:latin typeface="Arial"/>
              </a:rPr>
              <a:t> NIST Special Publication 800-88 (Media Sanitization) &amp; ISO/IEC 27037 (Digital Evidence Identification &amp; Preservation).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Statutory Compliance:</a:t>
            </a:r>
            <a:r>
              <a:rPr sz="1050">
                <a:solidFill>
                  <a:srgbClr val="232832"/>
                </a:solidFill>
                <a:latin typeface="Arial"/>
              </a:rPr>
              <a:t> Section 65B Indian Evidence Act / Section 63 Bharatiya Sakshya Adhiniyam (BSA 2023) Electronic Evidence Certification Standards.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Working Codebase &amp; Live Benchmarks:</a:t>
            </a:r>
            <a:r>
              <a:rPr sz="1050">
                <a:solidFill>
                  <a:srgbClr val="232832"/>
                </a:solidFill>
                <a:latin typeface="Arial"/>
              </a:rPr>
              <a:t> Production-tested VEILLE system with automated Neo4j sync, Celery task pipelines, and real-time interactive canvas.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